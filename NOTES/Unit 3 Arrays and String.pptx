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320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4" r:id="rId21"/>
    <p:sldId id="340" r:id="rId22"/>
    <p:sldId id="341" r:id="rId23"/>
    <p:sldId id="342" r:id="rId24"/>
    <p:sldId id="343" r:id="rId25"/>
    <p:sldId id="345" r:id="rId26"/>
    <p:sldId id="346" r:id="rId27"/>
    <p:sldId id="347" r:id="rId28"/>
    <p:sldId id="348" r:id="rId29"/>
    <p:sldId id="349" r:id="rId30"/>
    <p:sldId id="350" r:id="rId31"/>
    <p:sldId id="351" r:id="rId32"/>
  </p:sldIdLst>
  <p:sldSz cx="12192000" cy="6858000"/>
  <p:notesSz cx="6858000" cy="9144000"/>
  <p:embeddedFontLs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j+QiY8+tGDTQhqpku5UfwX1jy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84C3D5-BA56-4CB6-A2EC-A6B4E8D0C348}">
  <a:tblStyle styleId="{B584C3D5-BA56-4CB6-A2EC-A6B4E8D0C3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59" autoAdjust="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574575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8574575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98574575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463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479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296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27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937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167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5739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7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21528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491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049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174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2701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2052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6230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8161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07456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3937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4148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10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1431607" y="2625077"/>
            <a:ext cx="9702017" cy="918223"/>
          </a:xfrm>
          <a:custGeom>
            <a:avLst/>
            <a:gdLst/>
            <a:ahLst/>
            <a:cxnLst/>
            <a:rect l="l" t="t" r="r" b="b"/>
            <a:pathLst>
              <a:path w="7556500" h="26289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IN" sz="40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Arrays </a:t>
            </a:r>
            <a:r>
              <a:rPr lang="en-IN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IN" sz="4000" b="1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endParaRPr lang="en-US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741" y="5601409"/>
            <a:ext cx="3832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Nilesh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B. </a:t>
            </a:r>
            <a:r>
              <a:rPr lang="en-US" sz="27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Ghavate</a:t>
            </a:r>
            <a:r>
              <a:rPr lang="en-US" sz="27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1058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Technical Trainer</a:t>
            </a:r>
          </a:p>
          <a:p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B.Tech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CSE AIDS </a:t>
            </a:r>
            <a:r>
              <a:rPr lang="en-US" sz="15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57" y="1"/>
            <a:ext cx="4402205" cy="871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86203" y="166858"/>
            <a:ext cx="3005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PROGRAMMING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857457505_0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7" name="Google Shape;97;g39857457505_0_0"/>
          <p:cNvGraphicFramePr/>
          <p:nvPr/>
        </p:nvGraphicFramePr>
        <p:xfrm>
          <a:off x="4879584" y="742909"/>
          <a:ext cx="2337775" cy="476225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233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8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Google Shape;98;g39857457505_0_0"/>
          <p:cNvGraphicFramePr/>
          <p:nvPr>
            <p:extLst>
              <p:ext uri="{D42A27DB-BD31-4B8C-83A1-F6EECF244321}">
                <p14:modId xmlns:p14="http://schemas.microsoft.com/office/powerpoint/2010/main" val="3010004566"/>
              </p:ext>
            </p:extLst>
          </p:nvPr>
        </p:nvGraphicFramePr>
        <p:xfrm>
          <a:off x="2512859" y="1845580"/>
          <a:ext cx="7166300" cy="117194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358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9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Subject/Course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Programming 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97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Title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b="1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Java Language Basics</a:t>
                      </a:r>
                      <a:endParaRPr sz="18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9" name="Google Shape;99;g39857457505_0_0"/>
          <p:cNvGraphicFramePr/>
          <p:nvPr>
            <p:extLst>
              <p:ext uri="{D42A27DB-BD31-4B8C-83A1-F6EECF244321}">
                <p14:modId xmlns:p14="http://schemas.microsoft.com/office/powerpoint/2010/main" val="1127788642"/>
              </p:ext>
            </p:extLst>
          </p:nvPr>
        </p:nvGraphicFramePr>
        <p:xfrm>
          <a:off x="1524006" y="3477842"/>
          <a:ext cx="10063950" cy="1904160"/>
        </p:xfrm>
        <a:graphic>
          <a:graphicData uri="http://schemas.openxmlformats.org/drawingml/2006/table">
            <a:tbl>
              <a:tblPr>
                <a:noFill/>
                <a:tableStyleId>{B584C3D5-BA56-4CB6-A2EC-A6B4E8D0C348}</a:tableStyleId>
              </a:tblPr>
              <a:tblGrid>
                <a:gridCol w="1006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mbria"/>
                          <a:sym typeface="Cambria"/>
                        </a:rPr>
                        <a:t>Lesson Objectives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Arrays</a:t>
                      </a:r>
                      <a:endParaRPr sz="18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Array Operations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 Class, </a:t>
                      </a:r>
                      <a:r>
                        <a:rPr lang="en-IN" sz="1800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StringBuffer</a:t>
                      </a: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IN" sz="1800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StringBuilder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 Manipulation Methods</a:t>
                      </a:r>
                      <a:endParaRPr sz="1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838200" y="8152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</a:pPr>
            <a:r>
              <a:rPr lang="en-US" sz="2400" b="1" dirty="0"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24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838200" y="147260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>
              <a:spcBef>
                <a:spcPts val="0"/>
              </a:spcBef>
              <a:buSzPts val="2000"/>
            </a:pP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Arrays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One-Dimensional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Arrays,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Multi-Dimensional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Arrays,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Array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Operations,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Class,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String Manipulation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Methods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lvl="0" indent="-228600" algn="just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Comparison, </a:t>
            </a: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73"/>
            <a:ext cx="12192000" cy="705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9" y="132732"/>
            <a:ext cx="11718388" cy="65505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4613" y="1084971"/>
            <a:ext cx="10515600" cy="560949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Arrays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54612" y="1763108"/>
            <a:ext cx="851798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an Array?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collection of elements of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same data 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stores multiple values in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single variable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element is stored at a specific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 indexing starts from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40, 50};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06" y="0"/>
            <a:ext cx="11718388" cy="655059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91540" y="1085107"/>
            <a:ext cx="761238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Use Arrays?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Advantages of Arrays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 multiple values using one variable.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Easy to access elements using an index.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Reduces the need for many separate variables.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Makes programs simpler and more organized.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Without Array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marks1 = 80;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marks2 = 85;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marks3 = 90;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 Array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marks = {80, 85, 90};</a:t>
            </a:r>
          </a:p>
        </p:txBody>
      </p:sp>
    </p:spTree>
    <p:extLst>
      <p:ext uri="{BB962C8B-B14F-4D97-AF65-F5344CB8AC3E}">
        <p14:creationId xmlns:p14="http://schemas.microsoft.com/office/powerpoint/2010/main" val="104225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5" y="249777"/>
            <a:ext cx="11830928" cy="676718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41607" y="1800665"/>
            <a:ext cx="813816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Declaring and Creating an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[size];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[5];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creates an array that can store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 integers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956474" y="1671578"/>
            <a:ext cx="450636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Initializing an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Method 1: At the Time of Declaration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40, 50};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Method 2: Assign Values Later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[5];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numbers[0]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numbers[1] = 20;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numbers[2] = 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numbers[3] = 40;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numbers[4] = 50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93635"/>
            <a:ext cx="11544300" cy="717651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3920" y="877154"/>
            <a:ext cx="41392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Accessing Array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access elements.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40, 50};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(numbers[0]);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(numbers[2]);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10 30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27733"/>
              </p:ext>
            </p:extLst>
          </p:nvPr>
        </p:nvGraphicFramePr>
        <p:xfrm>
          <a:off x="1569820" y="4829421"/>
          <a:ext cx="10515600" cy="182880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549984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27798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91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58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885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80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56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321866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023195" y="3361119"/>
            <a:ext cx="44951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 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Array index always starts from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68680" y="813481"/>
            <a:ext cx="4302781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Traversing an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loop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to display all elements.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40, 50};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numbers.length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(numbers[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]);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10 20 30 40 50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857261" y="1145889"/>
            <a:ext cx="578075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Array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length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property to find the size of an array.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numbers = {10, 20, 30, 40, 50};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numbers.length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3440" y="109403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and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Limitations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multiple values together.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Easy to access using an index.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Saves memory and code.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Easy to process using loops.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Stores only one data type.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Size is fixed after creation.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Cannot add or remove elements dynamically.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525780" y="11986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5760" y="938779"/>
            <a:ext cx="724662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Types of Arrays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One-Dimensional Array (1D Array)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Stores elements in a single row.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Accessed using one index.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Used to store a list of similar data items.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Declaration: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[5];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 marks = {85, 90, 78, 92, 88};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397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5760" y="1117045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import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java.util.Arrays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ArrayOperations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************* One-Dimensional Array *************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[] = {10, 20, 30, 40, 50};</a:t>
            </a: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//Traversing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("One-Dimensional Array:");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 + " ");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65760" y="3491002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Sum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sum = 0;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sum = sum +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nSum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" + sum);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Maximum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max =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[0];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1;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if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 &gt; max)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max =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("Maximum = " + max);</a:t>
            </a:r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785610" y="1505843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// Minimum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min =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[0];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1;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if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 &lt; min)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min =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("Minimum = " + min);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Reverse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("Reverse Array: ");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- 1;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&gt;= 0;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--)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 + " ");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Sort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Arrays.sort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nSorted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Array: " +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Arrays.toString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1206" y="1140085"/>
            <a:ext cx="5756704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Two-Dimensional Array (2D Array)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Stores data in rows and columns (matrix form).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Accessed using two indices.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Commonly used for tables and matrices.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Declaration: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[][] matrix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[3][3];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[][] marks = { {85,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90, 12},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{78,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92, 12}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5760" y="683062"/>
            <a:ext cx="6096000" cy="67095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// 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c) Addition of two matrix.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MatrixAddition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First Matrix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A =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{1, 2, 3},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{4, 5, 6},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{7, 8, 9}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Second Matrix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B =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{9, 8, 7},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{6, 5, 4},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{3, 2, 1}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Result Matrix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C = new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[3][3];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Addition of Matrices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C[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= A[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B[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Display First Matrix</a:t>
            </a:r>
          </a:p>
          <a:p>
            <a:endParaRPr lang="en-IN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</a:t>
            </a:r>
            <a:endParaRPr lang="en-IN" sz="1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83902" y="876976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("First Matrix:");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Display Second Matrix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nSecond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Matrix:");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Display Result Matrix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nAddition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Two Matrices:");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(C[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91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65760" y="1344157"/>
            <a:ext cx="566693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3. Multidimensional Array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 array containing two or more dimensions.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Used for representing complex data structures.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Declaration: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[][][] data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[2][3][4];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42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97169" y="1106878"/>
            <a:ext cx="6096000" cy="58169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MatrixMultiplication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First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A =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{1, 2, 3},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{4, 5, 6},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{7, 8, 9}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Second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B =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{9, 8, 7},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{6, 5, 4},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{3, 2, 1}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Result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[][] C = new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[3][3];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Matrix Multiplication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C[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= 0;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 = 0; k &lt; 3; k++)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    C[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+= A[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][k] * B[k][j];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7304" y="45246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// Display First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("First Matrix:");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Display Second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nSecond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Matrix:");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Display Result Matrix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nMultiplication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Two Matrices:");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for (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j = 0; j &lt; 3;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(C[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</a:t>
            </a:r>
            <a:r>
              <a:rPr lang="en-IN" sz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sz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6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65760" y="1194207"/>
            <a:ext cx="946124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4. Jagged (Ragged)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multidimensional array where each row can have a different number of elements.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Saves memory when rows are of unequal length.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0222" y="3272183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JaggedArrayExample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public static void main(String[]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// Jagged Array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[][]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{1, 2, 3},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{4, 5},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{6, 7, 8, 9}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};</a:t>
            </a:r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650523" y="3503772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// Display the jagged array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("Jagged Array:");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= 0;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arr.length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++)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for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j = 0; j &lt;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].length;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j++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arr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][j] + " ");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   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840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1858" y="1055077"/>
            <a:ext cx="1110820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Array Operations  </a:t>
            </a:r>
          </a:p>
          <a:p>
            <a:pPr algn="just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Traversing an Array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Average of an array Elements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Sum of an array Elements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Maximum element in the array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Minimum element in the array</a:t>
            </a:r>
          </a:p>
          <a:p>
            <a:pPr marL="457200" indent="-457200" algn="just">
              <a:buFont typeface="Arial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Reverse an array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Sorting the Array</a:t>
            </a:r>
          </a:p>
          <a:p>
            <a:pPr marL="457200" indent="-457200" algn="just"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Transpose of array [2d array]</a:t>
            </a:r>
          </a:p>
          <a:p>
            <a:pPr marL="457200" indent="-457200" algn="just">
              <a:buFont typeface="Arial"/>
              <a:buAutoNum type="arabicPeriod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Sum of Matrix array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[2d array]</a:t>
            </a:r>
          </a:p>
          <a:p>
            <a:pPr marL="457200" indent="-457200" algn="just">
              <a:buAutoNum type="arabicPeriod"/>
            </a:pP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AutoNum type="arabicPeriod"/>
            </a:pPr>
            <a:endParaRPr lang="en-IN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 algn="just"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NOTE: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ALL ARRAY OPERATIONS PERFORMED IN THE PRACTICAL NO. 6.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See the Example of One Dimensional Array in the given ppt. </a:t>
            </a:r>
          </a:p>
          <a:p>
            <a:pPr marL="457200" indent="-457200">
              <a:buAutoNum type="arabicPeriod"/>
            </a:pP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07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65994" y="1221229"/>
            <a:ext cx="1826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endParaRPr lang="en-IN" sz="24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65994" y="1765723"/>
            <a:ext cx="592341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What is a String?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sequence of characters.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Java, String is 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of the String class.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String class belongs to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immutable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(cannot be changed after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creation).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String name = "Java";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85538" y="1816765"/>
            <a:ext cx="42370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Creating Strings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are two ways to create strings: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1. Using String Literal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 s1 = "Hello";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Using new Keyword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 s2 = new String("Hello");</a:t>
            </a:r>
          </a:p>
        </p:txBody>
      </p:sp>
    </p:spTree>
    <p:extLst>
      <p:ext uri="{BB962C8B-B14F-4D97-AF65-F5344CB8AC3E}">
        <p14:creationId xmlns:p14="http://schemas.microsoft.com/office/powerpoint/2010/main" val="249525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65994" y="1221229"/>
            <a:ext cx="1826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endParaRPr lang="en-IN" sz="24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65994" y="1736732"/>
            <a:ext cx="947223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 Immutability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Once a String object is created, its value cannot be changed.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Any modification creates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new String object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String s = "Hello"; s = s + " World";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(s);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Hello World</a:t>
            </a:r>
          </a:p>
        </p:txBody>
      </p:sp>
    </p:spTree>
    <p:extLst>
      <p:ext uri="{BB962C8B-B14F-4D97-AF65-F5344CB8AC3E}">
        <p14:creationId xmlns:p14="http://schemas.microsoft.com/office/powerpoint/2010/main" val="162082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4860" y="1026660"/>
            <a:ext cx="6096000" cy="546527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Characteristics of Java </a:t>
            </a:r>
            <a:r>
              <a:rPr lang="en-IN" sz="2400" b="1" kern="18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Strings</a:t>
            </a:r>
            <a:endParaRPr lang="en-IN" sz="2000" b="1" dirty="0" smtClean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Immutable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Once a String object is created, it cannot be modified.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 Object-Oriented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Strings are objects and support methods.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 Stored in String Pool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String literals are stored in a special memory area called the String Constant Pool.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 Thread Safe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Because Strings are immutable, they are inherently thread-safe.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 Serializable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Strings can be converted into byte streams.</a:t>
            </a:r>
            <a:endParaRPr lang="en-I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9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5500"/>
            <a:ext cx="11544300" cy="7176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77911" y="1080819"/>
            <a:ext cx="3655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Common String Methods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00452"/>
              </p:ext>
            </p:extLst>
          </p:nvPr>
        </p:nvGraphicFramePr>
        <p:xfrm>
          <a:off x="880110" y="2001337"/>
          <a:ext cx="10515600" cy="435864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396562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4058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83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length()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string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94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charAt(index)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character at a given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70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substring()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part of a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75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toUpperCase()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Converts to uppercase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748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toLowerCase()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Converts to lowercase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878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trim()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Removes leading and trailing spaces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36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equals()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Compares string contents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91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equalsIgnoreCase()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Compares ignoring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675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contains()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Checks if substring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444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replace()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Replaces characters or strings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84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59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65994" y="1221229"/>
            <a:ext cx="1826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965994" y="1682894"/>
            <a:ext cx="808656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public class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StringHandlingDemo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{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{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String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"Hello Java";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("String:");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("Original String: " +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("Length: " +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str.length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("Uppercase: " +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str.toUpperCase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("Substring: " +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str.substring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(6</a:t>
            </a:r>
            <a:r>
              <a:rPr lang="en-IN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));</a:t>
            </a:r>
          </a:p>
          <a:p>
            <a:endParaRPr lang="en-IN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IN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2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07716" y="811286"/>
            <a:ext cx="2719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07716" y="1272951"/>
            <a:ext cx="1113477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class in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used to create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mutable (modifiable)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strings.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Unlike String, the contents of 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object can be changed without creating a new object.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thread-safe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because its methods are synchronized.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("Hello");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07716" y="3796719"/>
            <a:ext cx="9987944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 of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Mutable (contents can be modified)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Thread-safe (synchronized methods)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Faster than String for repeated modifications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Part of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Dynamic in size (capacity increases automatically)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83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07716" y="1613168"/>
            <a:ext cx="81134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Creating 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Using Default Constructor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sb1 = new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 Initial 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sb2 = new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("Java");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 Initial Capacity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sb3 = new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(50);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7716" y="811286"/>
            <a:ext cx="2719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298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719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1046188" y="1682825"/>
            <a:ext cx="38154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</a:t>
            </a:r>
            <a:r>
              <a:rPr lang="en-IN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22444"/>
              </p:ext>
            </p:extLst>
          </p:nvPr>
        </p:nvGraphicFramePr>
        <p:xfrm>
          <a:off x="711591" y="2268623"/>
          <a:ext cx="10515600" cy="435864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620429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76678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Method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Description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633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append()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/>
                        <a:t>Adds text at the end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788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insert()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/>
                        <a:t>Inserts text at a specified position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77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replace()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/>
                        <a:t>Replaces part of the string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23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delete()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Deletes characters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99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reverse()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Reverses the string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995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length()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Returns the length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14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capacity()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Returns current capacity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78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charAt()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/>
                        <a:t>Returns character at a specified index</a:t>
                      </a:r>
                      <a:endParaRPr lang="en-US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377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setCharAt()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Changes a character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352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/>
                        <a:t>toString()</a:t>
                      </a:r>
                      <a:endParaRPr lang="en-IN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/>
                        <a:t>Converts </a:t>
                      </a:r>
                      <a:r>
                        <a:rPr lang="en-IN" sz="2000" dirty="0" err="1"/>
                        <a:t>StringBuffer</a:t>
                      </a:r>
                      <a:r>
                        <a:rPr lang="en-IN" sz="2000" dirty="0"/>
                        <a:t> to String</a:t>
                      </a:r>
                      <a:endParaRPr lang="en-IN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464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89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719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1007716" y="1426992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StringHandlingDemo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6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  <a:endParaRPr lang="en-IN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endParaRPr lang="en-IN" sz="16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{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//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endParaRPr lang="en-IN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nStringBuffer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("Hello");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sb.append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 World");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sb.insert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(5, " Java");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sb.replace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(0, 5, "Hi");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sb.delete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(2, 7);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6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}</a:t>
            </a:r>
          </a:p>
          <a:p>
            <a:r>
              <a:rPr lang="en-IN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057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07716" y="1119063"/>
            <a:ext cx="96455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 a class in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used to create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mutable (modifiable)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strings.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Unlike String, 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object can be modified without creating a new object.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 thread-safe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because its methods are not synchronized.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It provides better performance than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single-threaded applications.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Syntax: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("Hello");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7716" y="4056580"/>
            <a:ext cx="63353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 of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Mutable (contents can be changed)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 thread-safe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Faster than String and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modifications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Dynamic memory allocation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Part of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java.lang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package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37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58130" y="1581057"/>
            <a:ext cx="855315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Creating 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Using Default Constructor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sb1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 Initial String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sb2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("Java");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 Initial Capacity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sb3 = new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(50);</a:t>
            </a:r>
          </a:p>
        </p:txBody>
      </p:sp>
    </p:spTree>
    <p:extLst>
      <p:ext uri="{BB962C8B-B14F-4D97-AF65-F5344CB8AC3E}">
        <p14:creationId xmlns:p14="http://schemas.microsoft.com/office/powerpoint/2010/main" val="76590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46207"/>
              </p:ext>
            </p:extLst>
          </p:nvPr>
        </p:nvGraphicFramePr>
        <p:xfrm>
          <a:off x="880110" y="2099810"/>
          <a:ext cx="10515600" cy="435864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253456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7219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Method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Description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887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Adds text at the 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913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insert()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Inserts text at a specified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107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replace()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Replaces part of the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67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delete()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Deletes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401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reverse()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Reverses the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91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length()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the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41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capacity()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the current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264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Returns character at a given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63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setCharAt()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Changes a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589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toString()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Converts </a:t>
                      </a:r>
                      <a:r>
                        <a:rPr lang="en-IN" sz="2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StringBuilder</a:t>
                      </a: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to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05040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177634" y="1375048"/>
            <a:ext cx="4721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Common </a:t>
            </a:r>
            <a:r>
              <a:rPr lang="en-IN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171475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7716" y="811286"/>
            <a:ext cx="2892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Class</a:t>
            </a:r>
            <a:endParaRPr lang="en-IN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3089909" y="2901278"/>
            <a:ext cx="774221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sbd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new </a:t>
            </a:r>
            <a:r>
              <a:rPr lang="en-IN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IN" sz="2000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("Programming");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sbd.append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 in Java");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sbd.insert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(11, " Language");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sbd.reverse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("\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nStringBuilder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:");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System.out.println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sbd</a:t>
            </a:r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}</a:t>
            </a:r>
          </a:p>
          <a:p>
            <a:r>
              <a:rPr lang="en-IN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0714" y="151354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class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StringHandlingDemo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public static void main(String[]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args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endParaRPr lang="en-US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{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99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3635"/>
            <a:ext cx="11544300" cy="7176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9372" y="670609"/>
            <a:ext cx="8796997" cy="60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>
              <a:lnSpc>
                <a:spcPct val="160000"/>
              </a:lnSpc>
              <a:buSzPts val="2000"/>
            </a:pPr>
            <a:r>
              <a:rPr lang="en-IN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StringBuffer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StringBuilder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String Comparison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238868"/>
              </p:ext>
            </p:extLst>
          </p:nvPr>
        </p:nvGraphicFramePr>
        <p:xfrm>
          <a:off x="1055076" y="1536060"/>
          <a:ext cx="9664508" cy="5180600"/>
        </p:xfrm>
        <a:graphic>
          <a:graphicData uri="http://schemas.openxmlformats.org/drawingml/2006/table">
            <a:tbl>
              <a:tblPr>
                <a:tableStyleId>{B584C3D5-BA56-4CB6-A2EC-A6B4E8D0C348}</a:tableStyleId>
              </a:tblPr>
              <a:tblGrid>
                <a:gridCol w="2416127">
                  <a:extLst>
                    <a:ext uri="{9D8B030D-6E8A-4147-A177-3AD203B41FA5}">
                      <a16:colId xmlns:a16="http://schemas.microsoft.com/office/drawing/2014/main" val="2860993659"/>
                    </a:ext>
                  </a:extLst>
                </a:gridCol>
                <a:gridCol w="2416127">
                  <a:extLst>
                    <a:ext uri="{9D8B030D-6E8A-4147-A177-3AD203B41FA5}">
                      <a16:colId xmlns:a16="http://schemas.microsoft.com/office/drawing/2014/main" val="48579299"/>
                    </a:ext>
                  </a:extLst>
                </a:gridCol>
                <a:gridCol w="2416127">
                  <a:extLst>
                    <a:ext uri="{9D8B030D-6E8A-4147-A177-3AD203B41FA5}">
                      <a16:colId xmlns:a16="http://schemas.microsoft.com/office/drawing/2014/main" val="1282040617"/>
                    </a:ext>
                  </a:extLst>
                </a:gridCol>
                <a:gridCol w="2416127">
                  <a:extLst>
                    <a:ext uri="{9D8B030D-6E8A-4147-A177-3AD203B41FA5}">
                      <a16:colId xmlns:a16="http://schemas.microsoft.com/office/drawing/2014/main" val="1071650889"/>
                    </a:ext>
                  </a:extLst>
                </a:gridCol>
              </a:tblGrid>
              <a:tr h="133068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StringBuffer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StringBuilder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IN" sz="1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String 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82831819"/>
                  </a:ext>
                </a:extLst>
              </a:tr>
              <a:tr h="319364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Definition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mutable class that allows strings to be modified without creating new objects.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mutable class that allows fast string modifications without creating new objects.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set of methods used to compare two strings based on their contents or references.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403055767"/>
                  </a:ext>
                </a:extLst>
              </a:tr>
              <a:tr h="319364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Package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Belongs to the java.lang package.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Belongs to the java.lang package.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Comparison methods are provided by the String class in the java.lang package.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492868774"/>
                  </a:ext>
                </a:extLst>
              </a:tr>
              <a:tr h="319364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Mutability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Mutable (string contents can be changed after creation).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Mutable (string contents can be changed after creation).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applicable because comparison methods do not modify strings.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803569745"/>
                  </a:ext>
                </a:extLst>
              </a:tr>
              <a:tr h="412512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Safety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Thread-safe because all methods are synchronized. Suitable for multi-threaded applications.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thread-safe because methods are not synchronized. Suitable for single-threaded applications.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Thread safety is not applicable because these methods only compare string values or references.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61707755"/>
                  </a:ext>
                </a:extLst>
              </a:tr>
              <a:tr h="412512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Performance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Faster than String for repeated modifications but slower than StringBuilder due to synchronization.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Faster than both String and StringBuffer because synchronization is not used.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Comparison methods execute quickly and return either a boolean (true/false) or an integer result.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439365054"/>
                  </a:ext>
                </a:extLst>
              </a:tr>
              <a:tr h="412512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Capacity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capacity is 16 characters. Capacity increases automatically when needed.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capacity is 16 characters. Capacity also increases automatically when needed.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 capacity because comparison methods do not store or modify strings.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684092315"/>
                  </a:ext>
                </a:extLst>
              </a:tr>
              <a:tr h="598808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Common Methods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append(), insert(), replace(), delete(), reverse(), length(), capacity(), charAt().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append(), insert(), replace(), delete(), reverse(), length(), capacity(), charAt().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==, equals(), equalsIgnoreCase(), compareTo(), compareToIgnoreCase(), contains(), startsWith(), endsWith().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154574100"/>
                  </a:ext>
                </a:extLst>
              </a:tr>
              <a:tr h="412512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Memory Usage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Modifies the existing object instead of creating new objects, making it memory efficient.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Modifies the existing object instead of creating new objects, providing better memory efficiency and speed.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Does not create or modify objects; it only compares existing string values.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141947638"/>
                  </a:ext>
                </a:extLst>
              </a:tr>
              <a:tr h="505660">
                <a:tc>
                  <a:txBody>
                    <a:bodyPr/>
                    <a:lstStyle/>
                    <a:p>
                      <a:r>
                        <a:rPr lang="en-IN" sz="10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Applications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Used in text editors, report generation, logging systems, and multi-threaded applications requiring frequent string modifications.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Used in dynamic string creation, text processing, and single-threaded applications where high performance is required.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Used in user authentication, searching, sorting, input validation, password verification, and decision-making.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415723712"/>
                  </a:ext>
                </a:extLst>
              </a:tr>
              <a:tr h="505660">
                <a:tc>
                  <a:txBody>
                    <a:bodyPr/>
                    <a:lstStyle/>
                    <a:p>
                      <a:r>
                        <a:rPr lang="en-IN" sz="1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Best Choice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Choose StringBuffer when thread safety is required along with frequent string modifications.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Choose StringBuilder when maximum performance is required and thread safety is not needed.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Choose string comparison methods whenever you need to check equality, ordering, or matching patterns between strings.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47112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30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4182</Words>
  <Application>Microsoft Office PowerPoint</Application>
  <PresentationFormat>Widescreen</PresentationFormat>
  <Paragraphs>601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Times New Roman</vt:lpstr>
      <vt:lpstr>Cambria</vt:lpstr>
      <vt:lpstr>Arial Unicode MS</vt:lpstr>
      <vt:lpstr>Calibri</vt:lpstr>
      <vt:lpstr>Arial</vt:lpstr>
      <vt:lpstr>Wingdings</vt:lpstr>
      <vt:lpstr>Office Theme</vt:lpstr>
      <vt:lpstr>PowerPoint Presentation</vt:lpstr>
      <vt:lpstr>PowerPoint Presentation</vt:lpstr>
      <vt:lpstr>Outline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UNIT:- 02</dc:title>
  <dc:creator>admin</dc:creator>
  <cp:lastModifiedBy>MyLappy</cp:lastModifiedBy>
  <cp:revision>98</cp:revision>
  <dcterms:created xsi:type="dcterms:W3CDTF">2024-12-30T07:42:19Z</dcterms:created>
  <dcterms:modified xsi:type="dcterms:W3CDTF">2026-07-20T10:10:09Z</dcterms:modified>
</cp:coreProperties>
</file>