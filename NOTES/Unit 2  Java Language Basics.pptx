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320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4" r:id="rId41"/>
    <p:sldId id="296" r:id="rId42"/>
    <p:sldId id="297" r:id="rId43"/>
    <p:sldId id="298" r:id="rId44"/>
    <p:sldId id="299" r:id="rId45"/>
    <p:sldId id="300" r:id="rId46"/>
    <p:sldId id="301" r:id="rId47"/>
    <p:sldId id="307" r:id="rId48"/>
    <p:sldId id="303" r:id="rId49"/>
    <p:sldId id="304" r:id="rId50"/>
    <p:sldId id="305" r:id="rId51"/>
    <p:sldId id="306" r:id="rId52"/>
    <p:sldId id="308" r:id="rId53"/>
    <p:sldId id="309" r:id="rId54"/>
    <p:sldId id="310" r:id="rId55"/>
    <p:sldId id="311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</p:sldIdLst>
  <p:sldSz cx="12192000" cy="6858000"/>
  <p:notesSz cx="6858000" cy="9144000"/>
  <p:embeddedFontLst>
    <p:embeddedFont>
      <p:font typeface="Calibri" panose="020F0502020204030204" pitchFamily="34" charset="0"/>
      <p:regular r:id="rId70"/>
      <p:bold r:id="rId71"/>
      <p:italic r:id="rId72"/>
      <p:boldItalic r:id="rId73"/>
    </p:embeddedFont>
    <p:embeddedFont>
      <p:font typeface="Cambria" panose="02040503050406030204" pitchFamily="18" charset="0"/>
      <p:regular r:id="rId74"/>
      <p:bold r:id="rId75"/>
      <p:italic r:id="rId76"/>
      <p:boldItalic r:id="rId7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8" roundtripDataSignature="AMtx7mj+QiY8+tGDTQhqpku5UfwX1jy5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84C3D5-BA56-4CB6-A2EC-A6B4E8D0C348}">
  <a:tblStyle styleId="{B584C3D5-BA56-4CB6-A2EC-A6B4E8D0C3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259" autoAdjust="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5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77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3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1.fntdata"/><Relationship Id="rId75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4.fntdata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7.fntdata"/><Relationship Id="rId7" Type="http://schemas.openxmlformats.org/officeDocument/2006/relationships/slide" Target="slides/slide6.xml"/><Relationship Id="rId71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8574575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85745750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985745750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4639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0221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21415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7147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07045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42850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2861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85399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47996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26936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10151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82786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04547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23914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29332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5795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7981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03198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8064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05087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11256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93435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79466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28224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14819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75000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7560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13014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69704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24932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76003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094973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38800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470073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4603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036147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181018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444634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11549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397154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39844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845187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303258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895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711828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782103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934928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386516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305026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6951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726269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2150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>
          <a:xfrm>
            <a:off x="1431607" y="2625077"/>
            <a:ext cx="9702017" cy="918223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n-IN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Language </a:t>
            </a:r>
            <a:r>
              <a:rPr lang="en-IN" sz="40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Basics </a:t>
            </a:r>
            <a:endParaRPr lang="en-US" sz="4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741" y="5601409"/>
            <a:ext cx="38328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Mr. </a:t>
            </a:r>
            <a:r>
              <a:rPr lang="en-US" sz="2700" b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Nilesh</a:t>
            </a:r>
            <a:r>
              <a:rPr lang="en-US" sz="27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B. </a:t>
            </a:r>
            <a:r>
              <a:rPr lang="en-US" sz="2700" b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Ghavate</a:t>
            </a:r>
            <a:r>
              <a:rPr lang="en-US" sz="27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058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1058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Technical Trainer</a:t>
            </a:r>
          </a:p>
          <a:p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B.Tech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CSE AIDS </a:t>
            </a:r>
            <a:r>
              <a:rPr lang="en-US" sz="15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57" y="1"/>
            <a:ext cx="4402205" cy="8718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86203" y="166858"/>
            <a:ext cx="3005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PROGRAMMING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857457505_0_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7" name="Google Shape;97;g39857457505_0_0"/>
          <p:cNvGraphicFramePr/>
          <p:nvPr/>
        </p:nvGraphicFramePr>
        <p:xfrm>
          <a:off x="4879584" y="742909"/>
          <a:ext cx="2337775" cy="476225"/>
        </p:xfrm>
        <a:graphic>
          <a:graphicData uri="http://schemas.openxmlformats.org/drawingml/2006/table">
            <a:tbl>
              <a:tblPr>
                <a:noFill/>
                <a:tableStyleId>{B584C3D5-BA56-4CB6-A2EC-A6B4E8D0C348}</a:tableStyleId>
              </a:tblPr>
              <a:tblGrid>
                <a:gridCol w="233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18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8" name="Google Shape;98;g39857457505_0_0"/>
          <p:cNvGraphicFramePr/>
          <p:nvPr>
            <p:extLst>
              <p:ext uri="{D42A27DB-BD31-4B8C-83A1-F6EECF244321}">
                <p14:modId xmlns:p14="http://schemas.microsoft.com/office/powerpoint/2010/main" val="452002531"/>
              </p:ext>
            </p:extLst>
          </p:nvPr>
        </p:nvGraphicFramePr>
        <p:xfrm>
          <a:off x="2512859" y="1845580"/>
          <a:ext cx="7166300" cy="1005860"/>
        </p:xfrm>
        <a:graphic>
          <a:graphicData uri="http://schemas.openxmlformats.org/drawingml/2006/table">
            <a:tbl>
              <a:tblPr>
                <a:noFill/>
                <a:tableStyleId>{B584C3D5-BA56-4CB6-A2EC-A6B4E8D0C348}</a:tableStyleId>
              </a:tblPr>
              <a:tblGrid>
                <a:gridCol w="358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Subject/Course</a:t>
                      </a:r>
                      <a:endParaRPr sz="1800" b="1" u="none" strike="noStrike" cap="none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Object Oriented Programming with Java 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Lesson Title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b="1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Java Language Basics</a:t>
                      </a:r>
                      <a:endParaRPr sz="18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9" name="Google Shape;99;g39857457505_0_0"/>
          <p:cNvGraphicFramePr/>
          <p:nvPr>
            <p:extLst>
              <p:ext uri="{D42A27DB-BD31-4B8C-83A1-F6EECF244321}">
                <p14:modId xmlns:p14="http://schemas.microsoft.com/office/powerpoint/2010/main" val="1854251557"/>
              </p:ext>
            </p:extLst>
          </p:nvPr>
        </p:nvGraphicFramePr>
        <p:xfrm>
          <a:off x="1524006" y="3477842"/>
          <a:ext cx="10063950" cy="1904160"/>
        </p:xfrm>
        <a:graphic>
          <a:graphicData uri="http://schemas.openxmlformats.org/drawingml/2006/table">
            <a:tbl>
              <a:tblPr>
                <a:noFill/>
                <a:tableStyleId>{B584C3D5-BA56-4CB6-A2EC-A6B4E8D0C348}</a:tableStyleId>
              </a:tblPr>
              <a:tblGrid>
                <a:gridCol w="1006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Lesson Objectives</a:t>
                      </a:r>
                      <a:endParaRPr sz="1800" b="1" u="none" strike="noStrike" cap="none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Variables,</a:t>
                      </a:r>
                      <a:r>
                        <a:rPr lang="en-US" sz="1800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 Data Types</a:t>
                      </a:r>
                      <a:endParaRPr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Operators, Operator</a:t>
                      </a:r>
                      <a:r>
                        <a:rPr lang="en-IN" sz="1800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Precedence</a:t>
                      </a:r>
                      <a:endParaRPr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Conditional</a:t>
                      </a:r>
                      <a:r>
                        <a:rPr lang="en-US" sz="1800" b="0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 Statements</a:t>
                      </a:r>
                      <a:endParaRPr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Looping</a:t>
                      </a:r>
                      <a:r>
                        <a:rPr lang="en-US" sz="1800" b="0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 Statements</a:t>
                      </a:r>
                      <a:endParaRPr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81529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US" sz="2400" b="1" dirty="0">
                <a:latin typeface="Cambria"/>
                <a:ea typeface="Cambria"/>
                <a:cs typeface="Cambria"/>
                <a:sym typeface="Cambria"/>
              </a:rPr>
              <a:t>Outline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838200" y="147260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buSzPts val="2000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Variables, Scope of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Variables</a:t>
            </a: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Primitive Data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</a:t>
            </a: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</a:t>
            </a: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Type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Casting</a:t>
            </a: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Wrapper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Classes</a:t>
            </a: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Autoboxing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Unboxing,</a:t>
            </a:r>
          </a:p>
          <a:p>
            <a:pPr marL="228600" lvl="0" indent="-228600" algn="just">
              <a:buSzPts val="2000"/>
            </a:pP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Operators:-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Arithmetic Operators, Relational Operators, Logical Operators, Assignment Operators, Unary Operators, Bitwise Operators, Operator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Precedence</a:t>
            </a:r>
          </a:p>
          <a:p>
            <a:pPr marL="228600" lvl="0" indent="-228600" algn="just">
              <a:buSzPts val="2000"/>
            </a:pP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Conditional Statements:-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Statement, if-else Statement, Nested if, switch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228600" lvl="0" indent="-228600" algn="just">
              <a:buSzPts val="2000"/>
            </a:pP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Looping Statements:- 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for Loop, while Loop, do-while Loop, for - Each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Loop</a:t>
            </a:r>
          </a:p>
          <a:p>
            <a:pPr marL="228600" lvl="0" indent="-228600" algn="just"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break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Statement, continue Statement. 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title"/>
          </p:nvPr>
        </p:nvSpPr>
        <p:spPr>
          <a:xfrm>
            <a:off x="647114" y="1141406"/>
            <a:ext cx="10515600" cy="51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Variables &amp; Types of Variable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31288" y="1727158"/>
            <a:ext cx="11639725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What is a Variable?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variable is a named memory location used to store data that can be changed during program execution.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dataType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variableName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value;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age = 20;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 name = "John";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Benefits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Stores data temporarily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Makes programs flexible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Improves readability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19" y="132732"/>
            <a:ext cx="11718388" cy="6550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title"/>
          </p:nvPr>
        </p:nvSpPr>
        <p:spPr>
          <a:xfrm>
            <a:off x="647114" y="1141406"/>
            <a:ext cx="10515600" cy="51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Variables &amp; Types of Variable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06" y="0"/>
            <a:ext cx="11718388" cy="655059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47114" y="1903393"/>
            <a:ext cx="9548446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Rules for Naming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Must start with a letter, _, or $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Cannot start with a number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Cannot use Java keywords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Variable names are case-sensitive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064368" y="2475061"/>
            <a:ext cx="853908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Valid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age;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studentName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double _salary;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$count;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Invalid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1age; // Starts with number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class; // Keyword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student-name; // Hyphen not allowed</a:t>
            </a:r>
          </a:p>
        </p:txBody>
      </p:sp>
    </p:spTree>
    <p:extLst>
      <p:ext uri="{BB962C8B-B14F-4D97-AF65-F5344CB8AC3E}">
        <p14:creationId xmlns:p14="http://schemas.microsoft.com/office/powerpoint/2010/main" val="104225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3"/>
          <p:cNvSpPr txBox="1">
            <a:spLocks/>
          </p:cNvSpPr>
          <p:nvPr/>
        </p:nvSpPr>
        <p:spPr>
          <a:xfrm>
            <a:off x="647114" y="1173410"/>
            <a:ext cx="10515600" cy="51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Variables &amp; Types of Variable</a:t>
            </a:r>
            <a:endParaRPr lang="en-IN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48225" y="1581649"/>
            <a:ext cx="10714306" cy="3805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Types of Variables in Java</a:t>
            </a:r>
          </a:p>
          <a:p>
            <a:pPr>
              <a:lnSpc>
                <a:spcPct val="2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variables are classified into three types: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Local Variable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Instance Variable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Static Variable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5" y="181411"/>
            <a:ext cx="11830928" cy="6767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1;p3"/>
          <p:cNvSpPr txBox="1">
            <a:spLocks/>
          </p:cNvSpPr>
          <p:nvPr/>
        </p:nvSpPr>
        <p:spPr>
          <a:xfrm>
            <a:off x="689317" y="741470"/>
            <a:ext cx="10515600" cy="51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Variables &amp; Types of Variable</a:t>
            </a:r>
            <a:endParaRPr lang="en-IN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85138"/>
            <a:ext cx="1107186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1. Local Variable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variable declared inside a method, constructor, or block.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Characteristics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Accessible only within the method.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Created when the method starts.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Destroyed when the method ends.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JVM , it stored in class Area memory.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class Demo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public static void main(String[]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number = 10; // Local Variable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(number);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67643" y="5796290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1;p3"/>
          <p:cNvSpPr txBox="1">
            <a:spLocks/>
          </p:cNvSpPr>
          <p:nvPr/>
        </p:nvSpPr>
        <p:spPr>
          <a:xfrm>
            <a:off x="647114" y="970671"/>
            <a:ext cx="10515600" cy="51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Variables &amp; Types of Variable</a:t>
            </a:r>
            <a:endParaRPr lang="en-IN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47114" y="1671615"/>
            <a:ext cx="1071782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Instance Variable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variable declared inside a class but outside methods.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Characteristics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Belongs to an object.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Each object has its own copy.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Created when an object is created.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02780" y="1746321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 Student {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 name = "Rahul"; // Instance Variable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 static void main(String[] 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Student s = new Student();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(s.name);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Rahul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1;p3"/>
          <p:cNvSpPr txBox="1">
            <a:spLocks/>
          </p:cNvSpPr>
          <p:nvPr/>
        </p:nvSpPr>
        <p:spPr>
          <a:xfrm>
            <a:off x="647114" y="970671"/>
            <a:ext cx="10515600" cy="51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Variables &amp; Types of Variable</a:t>
            </a:r>
            <a:endParaRPr lang="en-IN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7114" y="1678442"/>
            <a:ext cx="952558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3. Static Variable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variable declared using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keyword.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Characteristics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Shared among all objects.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Memory allocated only once.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Belongs to the class.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0" y="2078551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 Student {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static String college = "ABC College";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 static void main(String[] 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(college);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ABC College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/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11;p3"/>
          <p:cNvSpPr txBox="1">
            <a:spLocks/>
          </p:cNvSpPr>
          <p:nvPr/>
        </p:nvSpPr>
        <p:spPr>
          <a:xfrm>
            <a:off x="647114" y="970671"/>
            <a:ext cx="10515600" cy="51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Variables &amp; Types of Variable</a:t>
            </a:r>
            <a:endParaRPr lang="en-IN"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7114" y="1484155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Employee {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String name = "Amit";       // Instance Variable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static String company = "TCS"; // Static Variable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void display()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salary = 50000;     // Local Variable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("Name: " + name);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("Company: " + company);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("Salary: " + salary);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Employee e = new Employee();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e.display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7185660" y="2975942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OUTPUT:</a:t>
            </a: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Name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Amit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Company: TCS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Salary: 50000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6366" y="1309152"/>
            <a:ext cx="31822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Scope of Variables in Java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6366" y="2047743"/>
            <a:ext cx="1110937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What is Scope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  <a:p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Scope refers to the region of a program where a variable can be accessed.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determines the visibility and lifetime of a variable.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Variables declared in different locations have different scopes. 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Types of Variable Scope in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</a:p>
          <a:p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Local Variables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Instance Variables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Static (Class) Variables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7703"/>
            <a:ext cx="11544300" cy="717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28357" y="1276985"/>
            <a:ext cx="3297667" cy="497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Scope of Variables in Java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61877" y="1867604"/>
            <a:ext cx="1048922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Local Variables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Declared inside a method, constructor, or block.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Accessible only within that method or block.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Created when the method starts and destroyed when it 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void display()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10; // local variable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712004"/>
            <a:ext cx="898104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Instance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Declared inside a class but outside methods.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Each object has its own copy.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Accessible throughout the class using object references.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class Student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age; // instance variable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628357" y="1276985"/>
            <a:ext cx="3297667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Scope of Variables in Java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>
            <a:spLocks/>
          </p:cNvSpPr>
          <p:nvPr/>
        </p:nvSpPr>
        <p:spPr>
          <a:xfrm>
            <a:off x="628357" y="1276985"/>
            <a:ext cx="3297667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2000" b="1" smtClean="0">
                <a:latin typeface="Cambria" panose="02040503050406030204" pitchFamily="18" charset="0"/>
                <a:ea typeface="Cambria" panose="02040503050406030204" pitchFamily="18" charset="0"/>
              </a:rPr>
              <a:t>Scope of Variables in Java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47114" y="1961813"/>
            <a:ext cx="1012873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3. Static (Class)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Declared using the static keyword.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Shared among all objects of the class.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Memory is allocated only once.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class Student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static String school = "ABC School";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8357" y="4345432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Scope Rules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Variables declared inside a block {} are accessible only within that block.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Inner blocks can access outer variables.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Outer blocks cannot access variables declared inside inner blocks. </a:t>
            </a:r>
          </a:p>
        </p:txBody>
      </p:sp>
      <p:sp>
        <p:nvSpPr>
          <p:cNvPr id="8" name="Rectangle 7"/>
          <p:cNvSpPr/>
          <p:nvPr/>
        </p:nvSpPr>
        <p:spPr>
          <a:xfrm>
            <a:off x="7029157" y="1862481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 = 10;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(true) {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y = 20;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(x); // Valid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b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// 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(y); // Error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246035"/>
            <a:ext cx="11544300" cy="717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838200" y="1003640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Data Types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200" y="1825624"/>
            <a:ext cx="1022604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data type specifies the type of value that a variable can store. 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determines the memory size allocated to the variable. 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defines the range of values that can be stored in the variable. 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Data types help the compiler perform type checking and ensure efficient memory usage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Java provides two categories of data types: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Primitive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Non-Primitive (Reference)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data types.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838200" y="1003640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Types Data Types</a:t>
            </a:r>
            <a:r>
              <a:rPr lang="en-IN" sz="2400" b="1" dirty="0" smtClean="0">
                <a:latin typeface="Cambria"/>
                <a:ea typeface="Cambria"/>
                <a:cs typeface="Cambria"/>
                <a:sym typeface="Cambria"/>
              </a:rPr>
              <a:t>  in Java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825624"/>
            <a:ext cx="2662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Primitive Data Types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2225734"/>
            <a:ext cx="1039258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Primitive data types are predefined by Java and are used to store simple values.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are the basic building blocks for data manipulation in Java.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Primitive data types store actual values rather than references to objects.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provides eight primitive data types to represent different kinds of data.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offer efficient memory usage and faster execution compared to reference data types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4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838200" y="1003640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Types Data Types</a:t>
            </a:r>
            <a:r>
              <a:rPr lang="en-IN" sz="2400" b="1" dirty="0" smtClean="0">
                <a:latin typeface="Cambria"/>
                <a:ea typeface="Cambria"/>
                <a:cs typeface="Cambria"/>
                <a:sym typeface="Cambria"/>
              </a:rPr>
              <a:t>  in Java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825624"/>
            <a:ext cx="2662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Primitive Data Types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972553"/>
              </p:ext>
            </p:extLst>
          </p:nvPr>
        </p:nvGraphicFramePr>
        <p:xfrm>
          <a:off x="838200" y="2309654"/>
          <a:ext cx="10515600" cy="338328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2410253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542166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124270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58249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Default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454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-128 to 127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314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-32,768 to 32,767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142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-2,147,483,648 to 2,147,483,647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444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-9,223,372,036,854,775,808 to 9,223,372,036,854,775,807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424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±3.4 × 10³⁸ (approx.)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60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±1.8 × 10³⁰⁸ (approx.)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438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'\u0000'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 to 65,535 (Unicode characters)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414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JVM-dependent*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true or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1929530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39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838200" y="1003640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US" sz="2400" b="1" dirty="0" smtClean="0">
                <a:latin typeface="Cambria"/>
                <a:ea typeface="Cambria"/>
                <a:cs typeface="Cambria"/>
                <a:sym typeface="Cambria"/>
              </a:rPr>
              <a:t>Types Data Types</a:t>
            </a:r>
            <a:r>
              <a:rPr lang="en-IN" sz="2400" b="1" dirty="0" smtClean="0">
                <a:latin typeface="Cambria"/>
                <a:ea typeface="Cambria"/>
                <a:cs typeface="Cambria"/>
                <a:sym typeface="Cambria"/>
              </a:rPr>
              <a:t>  in Java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825624"/>
            <a:ext cx="51219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Non – Primitive or Reference 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 Types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38200" y="2225734"/>
            <a:ext cx="1118126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Non-primitive data types are also called reference data types because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store the address (reference) of an object.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are not predefined in Java and are created by the programmer or provided by Java libraries.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These data types can store multiple values or complex data structures.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are allocated in heap memory and managed using references.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Array, class, String , object </a:t>
            </a:r>
            <a:r>
              <a:rPr lang="en-US" altLang="en-US" sz="20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etc</a:t>
            </a: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are the 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Non-primitive data types </a:t>
            </a: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5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838200" y="1003640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Type Casting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 in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8200" y="1933675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Type casting in Java is the process of converting one data type into another data type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38200" y="2162653"/>
            <a:ext cx="9745980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Types of Type Casting in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Widening Type Casting (Implicit)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is done automatically by Java.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Smaller data type is converted into a larger data type.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 data loss occurs.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is also called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automatic type casting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Order: byte → short →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→ long → float → double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103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838200" y="1003640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Type Casting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 in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38200" y="1356564"/>
            <a:ext cx="9745980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Types of Type Casting in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Widening Type Casting (Implicit)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  <a:endParaRPr lang="en-US" altLang="en-US" sz="2000" b="1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 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 Main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 = 10;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double b = a; // implicit casting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77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838200" y="1003640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Type Casting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 in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38200" y="1555601"/>
            <a:ext cx="974598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Types of Type Casting in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2. Narrowing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Type Casting (Explicit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endParaRPr lang="en-US" sz="20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is done manually by the programmer.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Larger data type is converted into a smaller data type.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Data loss may occur.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is also called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explicit type casting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requires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(type)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syntax.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5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838200" y="1003640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Wrapper Classes in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38200" y="1825624"/>
            <a:ext cx="943880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Wrapper classes in Java are classes that convert primitive data types into objects.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Each primitive type has a corresponding wrapper class in the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java.lang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package. </a:t>
            </a:r>
          </a:p>
        </p:txBody>
      </p:sp>
      <p:sp>
        <p:nvSpPr>
          <p:cNvPr id="3" name="Rectangle 2"/>
          <p:cNvSpPr/>
          <p:nvPr/>
        </p:nvSpPr>
        <p:spPr>
          <a:xfrm>
            <a:off x="840821" y="3092232"/>
            <a:ext cx="31005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Need of Wrapper Classes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38200" y="3442484"/>
            <a:ext cx="980268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collections (like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ArrayList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store only objects, not primitive types.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provide useful methods for converting and manipulating data.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help in converting between primitives and objects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Autoboxing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and Unboxing).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support null values (unlike primitive types).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are used in multi-threading, synchronization, and frameworks.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4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838200" y="1003640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Wrapper Classes in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1625569"/>
            <a:ext cx="52966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Primitive Types and Their Wrapper Classes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583403"/>
              </p:ext>
            </p:extLst>
          </p:nvPr>
        </p:nvGraphicFramePr>
        <p:xfrm>
          <a:off x="838200" y="2643456"/>
          <a:ext cx="10515600" cy="356616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022181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390905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Primitive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Wrapper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9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Byte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0392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148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245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906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59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Double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193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237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Boolean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780035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3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838200" y="1003640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Wrapper Classes in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200" y="1825624"/>
            <a:ext cx="25715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Types of Conversion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2528599"/>
            <a:ext cx="10515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Autoboxing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(Primitive to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Object)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automatically converts primitive to wrapper object.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public class Main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public static void main(String[]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 = 10;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Integer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obj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a; //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autoboxing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obj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7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838200" y="1003640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Wrapper Classes in 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200" y="1825624"/>
            <a:ext cx="25715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Types of Conversion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38200" y="2170123"/>
            <a:ext cx="992886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Unboxing (Object 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Primitive)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automatically converts wrapper object to primitive.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public class Main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public static void main(String[]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Integer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obj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20;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 =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obj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; // unboxing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(a);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6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Operators in 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480061" y="1555601"/>
            <a:ext cx="1087374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Operators in Java are special symbols used to perform operations on variables and values.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are used to perform calculations, comparisons, logical decisions, and assignments.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Operators work on operands (variables or constants) to produce a result.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 provides different types of operators such as arithmetic, relational, logical, assignment,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unary, and bitwise operators.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Operators are widely used in expressions, conditions, loops, and decision-making statements in Java programs.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7703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3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7077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Arithmetic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6741" y="2250671"/>
            <a:ext cx="111679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Arithmetic operators in Java are used to perform basic mathematical operations on numerical values.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67558"/>
              </p:ext>
            </p:extLst>
          </p:nvPr>
        </p:nvGraphicFramePr>
        <p:xfrm>
          <a:off x="838200" y="3308098"/>
          <a:ext cx="10515600" cy="329184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234934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51148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673583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10444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 /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773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Adds two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+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832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Subtracts right operand from 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-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0851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Multiplies two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*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12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Divides left operand by 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/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230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Gives remainder after 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%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522107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125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7077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Arithmetic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6741" y="2250671"/>
            <a:ext cx="111679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Arithmetic operators in Java are used to perform basic mathematical operations on numerical values.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6741" y="3308098"/>
            <a:ext cx="12009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9861" y="3407873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Main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 = 10, b = 3;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("Addition: " + (a + b));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("Subtraction: " + (a - b));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("Multiplication: " + (a * b));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("Division: " + (a / b));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("Modulus: " + (a % b));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2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6532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Relational</a:t>
            </a: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Operators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80061" y="2160658"/>
            <a:ext cx="1069847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Relational operators in Java are used to compare two values or expressions.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return a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boolean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result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(true or false).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432611"/>
              </p:ext>
            </p:extLst>
          </p:nvPr>
        </p:nvGraphicFramePr>
        <p:xfrm>
          <a:off x="662940" y="3620294"/>
          <a:ext cx="10515600" cy="277368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072015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13924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826165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43083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 /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944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Checks if two values are equal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==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93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Checks if two values are not equal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!=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611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Greater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Checks if left value is greater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&gt;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448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Checks if left value is smaller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&lt;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547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Greater than or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Checks if left value is greater or equal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&gt;=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4950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 than or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Checks if left value is smaller or equal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&lt;=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015267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6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6532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Relational</a:t>
            </a: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Operators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80061" y="2160658"/>
            <a:ext cx="1069847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Relational operators in Java are used to compare two values or expressions.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return a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boolean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result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(true or false). </a:t>
            </a:r>
          </a:p>
        </p:txBody>
      </p:sp>
      <p:sp>
        <p:nvSpPr>
          <p:cNvPr id="7" name="Rectangle 6"/>
          <p:cNvSpPr/>
          <p:nvPr/>
        </p:nvSpPr>
        <p:spPr>
          <a:xfrm>
            <a:off x="586741" y="3308098"/>
            <a:ext cx="12009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smtClean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81300" y="3124916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Main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 = 10, b = 20;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(a == b);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(a != b);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(a &gt; b);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(a &lt; b);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(a &gt;= b);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(a &lt;= b);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61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2765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Logical</a:t>
            </a: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Operators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80061" y="2160658"/>
            <a:ext cx="1069847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Logical operators in Java are used to combine two or more conditions and return a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boolean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result (true/false)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based on logical evaluation.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392755"/>
              </p:ext>
            </p:extLst>
          </p:nvPr>
        </p:nvGraphicFramePr>
        <p:xfrm>
          <a:off x="838200" y="3178334"/>
          <a:ext cx="10515600" cy="280416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740272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379516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699066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848003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 /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81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Logical 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Returns true if both conditions are 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&gt; 10 &amp;&amp; b &gt;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534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`||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Logical OR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Returns true if at least once condition is true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Logical 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88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Logical 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Reverses the condition (true → false, false → true)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!(a &gt; 10)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70821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5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3182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Bitwise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0" y="2025492"/>
            <a:ext cx="1116798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Bitwise operators in Java are used to perform operations on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individual bits (0s and 1s)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of integer data types. 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These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operators work directly on binary representation of numbers.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38898"/>
              </p:ext>
            </p:extLst>
          </p:nvPr>
        </p:nvGraphicFramePr>
        <p:xfrm>
          <a:off x="586740" y="3415714"/>
          <a:ext cx="10515600" cy="292608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5816908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114524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878853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182357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5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 /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774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Bitwise 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Returns 1 if both bits are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&amp;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89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|</a:t>
                      </a:r>
                      <a:endParaRPr lang="en-IN" sz="15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Bitwise OR</a:t>
                      </a:r>
                      <a:endParaRPr lang="en-IN" sz="15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Returns 1 if at least one bit is 1</a:t>
                      </a:r>
                      <a:endParaRPr lang="en-US" sz="15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</a:t>
                      </a:r>
                      <a:r>
                        <a:rPr lang="en-US" sz="1500" baseline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| b</a:t>
                      </a:r>
                      <a:endParaRPr lang="en-US" sz="15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658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Bitwise XOR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Returns 1 if bits are different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^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2659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Bitwise 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Inverts all bits (0 → 1, 1 →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313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Left 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Shifts bits to left (multiplies by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&lt;&lt;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862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Right 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Shifts bits to right (divides by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&gt;&gt;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767466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3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3182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Bitwise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Operators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86741" y="2140718"/>
            <a:ext cx="1245854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05004" y="2479272"/>
            <a:ext cx="6096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Main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 = 5;  // 0101 in binary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b = 3;  // 0011 in binary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(a &amp; b);  // AND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(a | b);  // OR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(a ^ b);  // XOR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(~a);     // NOT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(a &lt;&lt; 1); // Left shift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(a &gt;&gt; 1); // Right shift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0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8216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Assignment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1" y="2250671"/>
            <a:ext cx="67585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Assignment operators are used to assign values to variables.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039872"/>
              </p:ext>
            </p:extLst>
          </p:nvPr>
        </p:nvGraphicFramePr>
        <p:xfrm>
          <a:off x="838200" y="2934494"/>
          <a:ext cx="10515600" cy="234696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1866739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773257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100936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38271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 /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3899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Assigns value to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=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229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+=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Add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Adds and assigns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+=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50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Subtract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Subtracts and assigns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-=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242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*=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Multiply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Multiplies and assigns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*=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99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Divide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Divides and assigns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/=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526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%=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Modulus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Remainder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%=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286103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00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8216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Assignment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6741" y="2096782"/>
            <a:ext cx="12009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56760" y="1544822"/>
            <a:ext cx="6096000" cy="50475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public class Main {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a = 10;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("Initial value of a: " + a);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a += 5;   // a = a + 5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("After += 5: " + a);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a -= 3;   // a = a - 3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("After -= 3: " + a);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a *= 2;   // a = a * 2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("After *= 2: " + a);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a /= 4;   // a = a / 4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("After /= 4: " + a);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a %= 3;   // a = a % 3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("After %= 3: " + a);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0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1611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Unary</a:t>
            </a: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1" y="2584196"/>
            <a:ext cx="111679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Unary operators work on a single operand and perform operations like increment, decrement, or negation.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7249"/>
              </p:ext>
            </p:extLst>
          </p:nvPr>
        </p:nvGraphicFramePr>
        <p:xfrm>
          <a:off x="838200" y="3387756"/>
          <a:ext cx="10515600" cy="201168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8641409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248320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18387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5339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 /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369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Unary plus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Indicates positive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+a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778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Unary minus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Changes sign of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742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Increases value by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a++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58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Decreases value by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776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Logical 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Reverses boolean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!true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5044899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7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1611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Unary</a:t>
            </a: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6741" y="2096782"/>
            <a:ext cx="12009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2400" y="1519760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public class Main {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a = 10;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boolean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flag = true;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("Initial value of a: " + a);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("Unary plus: " + (+a));   // +a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("Unary minus: " + (-a));  // -a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a++;  // increment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("After a++: " + a);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a--;  // decrement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("After a--: " + a);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("Logical NOT: " + (!flag)); // !true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9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4064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Ternary Operators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86741" y="2050616"/>
            <a:ext cx="85779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ternary operator is a shorthand for if-else and works on three operands.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84775"/>
              </p:ext>
            </p:extLst>
          </p:nvPr>
        </p:nvGraphicFramePr>
        <p:xfrm>
          <a:off x="838200" y="3315494"/>
          <a:ext cx="10515600" cy="109728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428977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806881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928898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376905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 /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690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?: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Ternary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Returns value based on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&gt; b ? a :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8949354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0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4064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Ternary Operators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6741" y="2250671"/>
            <a:ext cx="12009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2413338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Main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 = 10, b = 20;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max = (a &gt; b) ? a : b;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(max);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1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480061" y="887505"/>
            <a:ext cx="10515600" cy="7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>
              <a:buSzPts val="2400"/>
            </a:pP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Operators 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6741" y="1609368"/>
            <a:ext cx="22781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Special Operators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0061" y="2025492"/>
            <a:ext cx="112746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Special operators are used for specific purposes like object checking, memory reference, or instance verification.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166202"/>
              </p:ext>
            </p:extLst>
          </p:nvPr>
        </p:nvGraphicFramePr>
        <p:xfrm>
          <a:off x="838200" y="3391694"/>
          <a:ext cx="10515600" cy="188976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6332450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701043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274019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81736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 /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56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Access methods and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obj.display</a:t>
                      </a: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3167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Object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Creates new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new Student()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651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instanceof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Type check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Checks object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obj</a:t>
                      </a: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IN" sz="20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instanceof</a:t>
                      </a: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651643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9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0061" y="1544822"/>
            <a:ext cx="12009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smtClean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0" y="1673353"/>
            <a:ext cx="726186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Main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String name = "Hello";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// Dot operator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("Length: " +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name.length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());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//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instanceof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operator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(name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instanceof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String);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// new operator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String s = new String("Java");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(s);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9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26933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Operator Precedence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3940" y="2083267"/>
            <a:ext cx="10134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Operator precedence in Java defines the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order in which operators are evaluated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in an expression. 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Operators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with higher precedence are executed before operators with lower precedence. 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operators have the same precedence,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associativity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is used to decide the order of execution.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0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26933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Operator Precedence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375265"/>
              </p:ext>
            </p:extLst>
          </p:nvPr>
        </p:nvGraphicFramePr>
        <p:xfrm>
          <a:off x="1091961" y="1825626"/>
          <a:ext cx="10008078" cy="450579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3336026">
                  <a:extLst>
                    <a:ext uri="{9D8B030D-6E8A-4147-A177-3AD203B41FA5}">
                      <a16:colId xmlns:a16="http://schemas.microsoft.com/office/drawing/2014/main" val="3989779703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224612938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1865638687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Priority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Operators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4170692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 (Highest)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()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Parentheses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8576781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++ -- + - ! ~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Unary operators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43671501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* / %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Multiplicative operators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72383659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+ -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Additive operators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20341202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&lt;&lt; &gt;&gt;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Shift operators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132825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 &gt; &lt;= &gt;= instanceof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Relational operators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24356223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== !=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Equality operators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87662328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&amp;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Bitwise AND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38153981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^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Bitwise XOR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87253669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`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`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31882175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&amp;&amp;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Logical AND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89556774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`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19079534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?: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Ternary operator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97623230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14 (Lowest)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= += -= *= /= %=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Assignment operators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83128777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8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26933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Operator Precedence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765149"/>
            <a:ext cx="12009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2521059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public class Main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result = 10 + 5 * 2;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(result);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0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3392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Decision Making Statement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199" y="1948028"/>
            <a:ext cx="10916529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Conditional and Control Flow Statements in Java allow a program to make decisions based on certain conditions.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They help execute different blocks of code depending on whether a condition is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or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false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making programs more intelligent and dynamic.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Types of Conditional Statements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if Statement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if-else Statement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Nested if Statement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switch Statement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7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3392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Decision Making Statement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199" y="1765149"/>
            <a:ext cx="1091652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if Statement</a:t>
            </a:r>
          </a:p>
          <a:p>
            <a:pPr marL="342900" indent="-342900">
              <a:buAutoNum type="arabicPeriod"/>
            </a:pPr>
            <a:endParaRPr lang="en-IN" sz="20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if statement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is the simplest decision-making statement in Java. It executes a block of code only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when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specified condition evaluates to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 If the condition is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false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the block is skipped.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if(condition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{</a:t>
            </a: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// Statements to execute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}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Flow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Condition is checked.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execute the block.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false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skip the block.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11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3392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Decision Making Statement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199" y="1948028"/>
            <a:ext cx="10916529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IfExample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age = 20;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if(age &gt;= 18)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("You are eligible to vote.");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You are eligible to vote.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0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3392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Decision Making Statement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199" y="1583316"/>
            <a:ext cx="109165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2. if-else Statement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199" y="1891093"/>
            <a:ext cx="10020885" cy="3920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if-else statement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is used when there are two possible outcomes. If the condition is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true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the if block executes; otherwise, the else block executes.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Syntax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if(condition)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// True block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else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// False block</a:t>
            </a: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48641" y="3851116"/>
            <a:ext cx="6096000" cy="171739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Flow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Condition is evaluated.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True → Execute if block.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False → Execute else block.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3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3392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Decision Making Statement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199" y="1948028"/>
            <a:ext cx="1091652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 Practical3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   public static void main(String[]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       // a) Even or Odd using if...else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("---- Even or Odd ----");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= 15;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       if 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% 2 == 0)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          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+ " is Even");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       } else {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          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+ " is Odd");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3392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Decision Making Statement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199" y="1427523"/>
            <a:ext cx="1091652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3. Nested if Statement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Nested if statement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means placing one if statement inside another if statement. It is useful when multiple conditions need to be checked one after another.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if(condition1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{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if(condition2)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// Statements</a:t>
            </a: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Flow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First condition is checked.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If true, second condition is checked.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If both are true, the nested block executes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0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3392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Decision Making Statement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199" y="1526382"/>
            <a:ext cx="10916529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 // b) Roots of Quadratic Equation using else-if ladder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 class Practical31 </a:t>
            </a:r>
          </a:p>
          <a:p>
            <a:r>
              <a:rPr lang="en-IN" dirty="0"/>
              <a:t> {</a:t>
            </a:r>
          </a:p>
          <a:p>
            <a:r>
              <a:rPr lang="en-IN" dirty="0"/>
              <a:t>   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        </a:t>
            </a:r>
          </a:p>
          <a:p>
            <a:r>
              <a:rPr lang="en-IN" dirty="0"/>
              <a:t>    </a:t>
            </a:r>
          </a:p>
          <a:p>
            <a:r>
              <a:rPr lang="en-IN" dirty="0"/>
              <a:t>        </a:t>
            </a:r>
            <a:r>
              <a:rPr lang="en-IN" dirty="0" err="1"/>
              <a:t>System.out.println</a:t>
            </a:r>
            <a:r>
              <a:rPr lang="en-IN" dirty="0"/>
              <a:t>("\n---- Roots of Quadratic Equation ----");</a:t>
            </a:r>
          </a:p>
          <a:p>
            <a:r>
              <a:rPr lang="en-IN" dirty="0"/>
              <a:t>        double a = 1;</a:t>
            </a:r>
          </a:p>
          <a:p>
            <a:r>
              <a:rPr lang="en-IN" dirty="0"/>
              <a:t>        double b = -5;</a:t>
            </a:r>
          </a:p>
          <a:p>
            <a:r>
              <a:rPr lang="en-IN" dirty="0"/>
              <a:t>        double c = 6;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    double d = (b * b) - (4 * a * c);//(-5 * -5) - (4 * 1 * 6) = 25 - 24 = 1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    if (d &gt; 0) {</a:t>
            </a:r>
          </a:p>
          <a:p>
            <a:r>
              <a:rPr lang="en-IN" dirty="0"/>
              <a:t>            double root1 = (-b + </a:t>
            </a:r>
            <a:r>
              <a:rPr lang="en-IN" dirty="0" err="1"/>
              <a:t>Math.sqrt</a:t>
            </a:r>
            <a:r>
              <a:rPr lang="en-IN" dirty="0"/>
              <a:t>(d)) / (2 * a);//(-(-5) + </a:t>
            </a:r>
            <a:r>
              <a:rPr lang="en-IN" dirty="0" err="1"/>
              <a:t>Math.sqrt</a:t>
            </a:r>
            <a:r>
              <a:rPr lang="en-IN" dirty="0"/>
              <a:t>(1)) / (2 * 1) = (5 + 1) / 2 = 6 / 2 = 3</a:t>
            </a:r>
          </a:p>
          <a:p>
            <a:r>
              <a:rPr lang="en-IN" dirty="0"/>
              <a:t>            double root2 = (-b - </a:t>
            </a:r>
            <a:r>
              <a:rPr lang="en-IN" dirty="0" err="1"/>
              <a:t>Math.sqrt</a:t>
            </a:r>
            <a:r>
              <a:rPr lang="en-IN" dirty="0"/>
              <a:t>(d)) / (2 * a);//(-(-5) - </a:t>
            </a:r>
            <a:r>
              <a:rPr lang="en-IN" dirty="0" err="1"/>
              <a:t>Math.sqrt</a:t>
            </a:r>
            <a:r>
              <a:rPr lang="en-IN" dirty="0"/>
              <a:t>(1)) / (2 * 1) = (5 - 1) / 2 = 4 / 2 = 2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        </a:t>
            </a:r>
            <a:r>
              <a:rPr lang="en-IN" dirty="0" err="1"/>
              <a:t>System.out.println</a:t>
            </a:r>
            <a:r>
              <a:rPr lang="en-IN" dirty="0"/>
              <a:t>("Roots are Real and Distinct");</a:t>
            </a:r>
          </a:p>
          <a:p>
            <a:r>
              <a:rPr lang="en-IN" dirty="0"/>
              <a:t>            </a:t>
            </a:r>
            <a:r>
              <a:rPr lang="en-IN" dirty="0" err="1"/>
              <a:t>System.out.println</a:t>
            </a:r>
            <a:r>
              <a:rPr lang="en-IN" dirty="0"/>
              <a:t>("Root 1 = " + root1);</a:t>
            </a:r>
          </a:p>
          <a:p>
            <a:r>
              <a:rPr lang="en-IN" dirty="0"/>
              <a:t>            </a:t>
            </a:r>
            <a:r>
              <a:rPr lang="en-IN" dirty="0" err="1"/>
              <a:t>System.out.println</a:t>
            </a:r>
            <a:r>
              <a:rPr lang="en-IN" dirty="0"/>
              <a:t>("Root 2 = " + root2);</a:t>
            </a:r>
          </a:p>
          <a:p>
            <a:r>
              <a:rPr lang="en-IN" dirty="0"/>
              <a:t>        </a:t>
            </a:r>
            <a:r>
              <a:rPr lang="en-IN" dirty="0" smtClean="0"/>
              <a:t>}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10179" y="1930608"/>
            <a:ext cx="6096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else if (d == 0) {</a:t>
            </a:r>
          </a:p>
          <a:p>
            <a:r>
              <a:rPr lang="en-IN" dirty="0"/>
              <a:t>            double root = -b / (2 * a);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            </a:t>
            </a:r>
            <a:r>
              <a:rPr lang="en-IN" dirty="0" err="1"/>
              <a:t>System.out.println</a:t>
            </a:r>
            <a:r>
              <a:rPr lang="en-IN" dirty="0"/>
              <a:t>("Roots are Real and Equal");</a:t>
            </a:r>
          </a:p>
          <a:p>
            <a:r>
              <a:rPr lang="en-IN" dirty="0"/>
              <a:t>            </a:t>
            </a:r>
            <a:r>
              <a:rPr lang="en-IN" dirty="0" err="1"/>
              <a:t>System.out.println</a:t>
            </a:r>
            <a:r>
              <a:rPr lang="en-IN" dirty="0"/>
              <a:t>("Root = " + root);</a:t>
            </a:r>
          </a:p>
          <a:p>
            <a:r>
              <a:rPr lang="en-IN" dirty="0"/>
              <a:t>        } else {</a:t>
            </a:r>
          </a:p>
          <a:p>
            <a:r>
              <a:rPr lang="en-IN" dirty="0"/>
              <a:t>            </a:t>
            </a:r>
            <a:r>
              <a:rPr lang="en-IN" dirty="0" err="1"/>
              <a:t>System.out.println</a:t>
            </a:r>
            <a:r>
              <a:rPr lang="en-IN" dirty="0"/>
              <a:t>("Roots are Imaginary");</a:t>
            </a:r>
          </a:p>
          <a:p>
            <a:r>
              <a:rPr lang="en-IN" dirty="0"/>
              <a:t>        }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3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58129" y="1008946"/>
            <a:ext cx="25170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Looping Statements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10179" y="1930608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8128" y="1715164"/>
            <a:ext cx="933743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What is a Loop?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loop is used to execute a block of code repeatedly.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reduces code duplication.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Loops continue until a specified condition becomes false.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Commonly used for processing arrays, lists, and repetitive tasks.</a:t>
            </a:r>
          </a:p>
        </p:txBody>
      </p:sp>
    </p:spTree>
    <p:extLst>
      <p:ext uri="{BB962C8B-B14F-4D97-AF65-F5344CB8AC3E}">
        <p14:creationId xmlns:p14="http://schemas.microsoft.com/office/powerpoint/2010/main" val="97732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3392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Decision Making Statement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200" y="1765149"/>
            <a:ext cx="10916529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4. switch Statement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switch statement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is used to select one block of code from multiple options. It compares the value of a variable or expression with different case labels and executes the matching block.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It is mainly used when there are multiple possible values for a single variable.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switch(expression)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case value1: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// Statements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break;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case value2: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// Statements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break;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default: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// Statements</a:t>
            </a: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58729" y="3858029"/>
            <a:ext cx="6096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Flow</a:t>
            </a: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Expression is evaluated.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Matching case executes.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break exits the switch.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default executes if no case matches.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4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3392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Decision Making Statement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765149"/>
            <a:ext cx="6096000" cy="64940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 Practical3 {</a:t>
            </a:r>
          </a:p>
          <a:p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public static void main(String[] 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sz="16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("\n---- Week Day ----");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day = 3;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switch (day) {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case 1: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("Monday");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break;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case 2: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("Tuesday");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break;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case 3: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("Wednesday");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break;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case 4: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("Thursday");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break;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</a:t>
            </a:r>
            <a:b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0" y="2156083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      case 5: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("Friday");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               break;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           case 6: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("Saturday");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               break;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           case 7: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("Sunday");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               break;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           default: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("Invalid Day Number");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   }</a:t>
            </a: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0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25170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Looping Statements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38200" y="1836130"/>
            <a:ext cx="9654540" cy="334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What is a Loop?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loop is used to execute a block of code repeatedly until a specified condition becomes false.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Advantages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Reduces code repetition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Makes programs shorter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Improves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readability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Saves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execution time</a:t>
            </a:r>
          </a:p>
        </p:txBody>
      </p:sp>
    </p:spTree>
    <p:extLst>
      <p:ext uri="{BB962C8B-B14F-4D97-AF65-F5344CB8AC3E}">
        <p14:creationId xmlns:p14="http://schemas.microsoft.com/office/powerpoint/2010/main" val="200478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25170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Looping Statements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1824640"/>
            <a:ext cx="10431780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1. for Loop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 loop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used when the number of iterations is known in advance.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for(initialization; condition; update) { // code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1;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&lt;= 5;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++) {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);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1 2 3 4 5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Advantages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Easy to read and maintain.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Best for fixed iterations.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Initialization, condition, and update are in one place.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3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25170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Looping Statements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65982" y="1841368"/>
            <a:ext cx="6096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java.util.Scanner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FibonacciNthTerm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Scanner </a:t>
            </a:r>
            <a:r>
              <a:rPr lang="en-IN" dirty="0" err="1"/>
              <a:t>sc</a:t>
            </a:r>
            <a:r>
              <a:rPr lang="en-IN" dirty="0"/>
              <a:t> = new Scanner(System.in);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</a:t>
            </a:r>
            <a:r>
              <a:rPr lang="en-IN" dirty="0"/>
              <a:t>("Enter the value of n: ");</a:t>
            </a:r>
          </a:p>
          <a:p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n = </a:t>
            </a:r>
            <a:r>
              <a:rPr lang="en-IN" dirty="0" err="1"/>
              <a:t>sc.nextInt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first = 0, second = 1, next = 0;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137910" y="1749965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if (n == 1) {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("Nth Fibonacci term = " + first);</a:t>
            </a:r>
          </a:p>
          <a:p>
            <a:r>
              <a:rPr lang="en-IN" dirty="0"/>
              <a:t>        } else if (n == 2) {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("Nth Fibonacci term = " + second);</a:t>
            </a:r>
          </a:p>
          <a:p>
            <a:r>
              <a:rPr lang="en-IN" dirty="0"/>
              <a:t>        } else {</a:t>
            </a:r>
          </a:p>
          <a:p>
            <a:r>
              <a:rPr lang="en-IN" dirty="0"/>
              <a:t>            for 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 = 3; </a:t>
            </a:r>
            <a:r>
              <a:rPr lang="en-IN" dirty="0" err="1"/>
              <a:t>i</a:t>
            </a:r>
            <a:r>
              <a:rPr lang="en-IN" dirty="0"/>
              <a:t> &lt;= n;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r>
              <a:rPr lang="en-IN" dirty="0"/>
              <a:t>                next = first + second;</a:t>
            </a:r>
          </a:p>
          <a:p>
            <a:r>
              <a:rPr lang="en-IN" dirty="0"/>
              <a:t>                first = second;</a:t>
            </a:r>
          </a:p>
          <a:p>
            <a:r>
              <a:rPr lang="en-IN" dirty="0"/>
              <a:t>                second = next;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("Nth Fibonacci term = " + next);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sc.close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616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25170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Looping Statements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1824640"/>
            <a:ext cx="874014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while Loop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while loop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executes as long as the given condition is true.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while(condition) { // code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1; while(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&lt;= 5) {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++;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1 2 3 4 5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Advantages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Suitable when the number of iterations is unknown.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Condition is checked before execution.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30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25170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Looping Statements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1841368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java.util.Scanner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ReverseNumber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Scanner </a:t>
            </a:r>
            <a:r>
              <a:rPr lang="en-IN" dirty="0" err="1"/>
              <a:t>sc</a:t>
            </a:r>
            <a:r>
              <a:rPr lang="en-IN" dirty="0"/>
              <a:t> = new Scanner(System.in);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</a:t>
            </a:r>
            <a:r>
              <a:rPr lang="en-IN" dirty="0"/>
              <a:t>("Enter a number: ");</a:t>
            </a:r>
          </a:p>
          <a:p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number = </a:t>
            </a:r>
            <a:r>
              <a:rPr lang="en-IN" dirty="0" err="1"/>
              <a:t>sc.nextInt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reverse = 0;</a:t>
            </a:r>
          </a:p>
          <a:p>
            <a:endParaRPr lang="en-IN" dirty="0"/>
          </a:p>
          <a:p>
            <a:r>
              <a:rPr lang="en-IN" dirty="0"/>
              <a:t>        while (number != 0) {</a:t>
            </a:r>
          </a:p>
          <a:p>
            <a:r>
              <a:rPr lang="en-IN" dirty="0"/>
              <a:t>            </a:t>
            </a:r>
            <a:r>
              <a:rPr lang="en-IN" dirty="0" err="1"/>
              <a:t>int</a:t>
            </a:r>
            <a:r>
              <a:rPr lang="en-IN" dirty="0"/>
              <a:t> digit = number % 10;      // Get the last digit</a:t>
            </a:r>
          </a:p>
          <a:p>
            <a:r>
              <a:rPr lang="en-IN" dirty="0"/>
              <a:t>            reverse = reverse * 10 + digit; // Build the reversed number</a:t>
            </a:r>
          </a:p>
          <a:p>
            <a:r>
              <a:rPr lang="en-IN" dirty="0"/>
              <a:t>            number = number / 10;         // Remove the last digit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("Reversed Number = " + reverse);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sc.close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479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25170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Looping Statements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1756060"/>
            <a:ext cx="8773556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3. do-while Loop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do-while loop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executes the code at least once before checking the condition.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do { // code } while(condition);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1; do {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++; } while(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&lt;= 5);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1 2 3 4 5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Advantages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Executes at least one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Useful for menu-driven programs and user input.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75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802583"/>
            <a:ext cx="25170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Looping Statements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563730" y="4297504"/>
            <a:ext cx="6096000" cy="19543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if(</a:t>
            </a:r>
            <a:r>
              <a:rPr lang="en-IN" sz="11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isPrime</a:t>
            </a:r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{</a:t>
            </a:r>
          </a:p>
          <a:p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</a:t>
            </a:r>
            <a:r>
              <a:rPr lang="en-IN" sz="11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11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+ "is a Prime ");</a:t>
            </a:r>
          </a:p>
          <a:p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  <a:p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else</a:t>
            </a:r>
          </a:p>
          <a:p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{</a:t>
            </a:r>
          </a:p>
          <a:p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</a:t>
            </a:r>
            <a:r>
              <a:rPr lang="en-IN" sz="11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11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+ "is not a Prime");</a:t>
            </a:r>
          </a:p>
          <a:p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  <a:p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}</a:t>
            </a:r>
          </a:p>
          <a:p>
            <a:r>
              <a:rPr lang="en-IN" sz="11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sz="11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81400" y="693117"/>
            <a:ext cx="6096000" cy="65864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 Prime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public static void main(String[]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{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5;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2;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boolean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isPrime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true;</a:t>
            </a:r>
          </a:p>
          <a:p>
            <a:r>
              <a:rPr lang="en-IN" sz="3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3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3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if(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&lt;= 1)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{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isPrime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false;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else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{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do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if(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%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== 0)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{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   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isPrime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false;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    break;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}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++;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}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while(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&lt; </a:t>
            </a:r>
            <a:r>
              <a:rPr lang="en-IN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42974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25170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Looping Statements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838200" y="1532514"/>
            <a:ext cx="9419566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4. for-each Loop (Enhanced for Loop)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for-each loop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used to traverse arrays or collections without using an index.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dataType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variable : array) { // code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 numbers = {10, 20, 30, 40}; for(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: numbers) {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);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10 20 30 40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Advantages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Simple and readable.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 index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Best for arrays and collections.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71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25170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Looping Statements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48000" y="2305616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public class </a:t>
            </a:r>
            <a:r>
              <a:rPr lang="en-IN" dirty="0" err="1"/>
              <a:t>ForEachExample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[] numbers = {10, 20, 30, 40, 50};</a:t>
            </a:r>
          </a:p>
          <a:p>
            <a:endParaRPr lang="en-IN" dirty="0"/>
          </a:p>
          <a:p>
            <a:r>
              <a:rPr lang="en-IN" dirty="0"/>
              <a:t>        for 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: numbers) {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num</a:t>
            </a:r>
            <a:r>
              <a:rPr lang="en-IN" dirty="0"/>
              <a:t>);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143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838200" y="1126272"/>
            <a:ext cx="25170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Looping Statements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48000" y="2305616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public class </a:t>
            </a:r>
            <a:r>
              <a:rPr lang="en-IN" dirty="0" err="1"/>
              <a:t>ForEachExample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[] numbers = {10, 20, 30, 40, 50};</a:t>
            </a:r>
          </a:p>
          <a:p>
            <a:endParaRPr lang="en-IN" dirty="0"/>
          </a:p>
          <a:p>
            <a:r>
              <a:rPr lang="en-IN" dirty="0"/>
              <a:t>        for 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 : numbers) {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num</a:t>
            </a:r>
            <a:r>
              <a:rPr lang="en-IN" dirty="0"/>
              <a:t>);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417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69620" y="618441"/>
            <a:ext cx="1057533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Break Statement </a:t>
            </a:r>
            <a:endParaRPr lang="en-US" alt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break statement is used 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immediately terminate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 loop or switch statement. Control moves to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first statement after the loop or switch.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break;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Exits the current loop (for, while, do-while).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Terminates a switch case.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Improves efficiency by stopping unnecessary iterations.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1;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&lt;= 5;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++) { if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== 3) { break; }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);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9620" y="4623852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alt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Searching for an element.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Exiting a loop when a condition is met.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Menu-driven programs.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4060" y="4950148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Flow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Loop starts.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Condition becomes true (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== 3).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break executes.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Loop ends immediately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48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94360" y="859804"/>
            <a:ext cx="9937336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Continue Statement in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continue statement is used to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skip the current iteration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of a loop and continue with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the next iteration.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continue;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Skips only the current iteration.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Works with for, while, and do-while loops.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Does not terminate the loop.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1;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&lt;= 5;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++) { if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== 3) { continue; }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);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1 2 4 5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01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Flow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Loop starts.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Condition becomes true (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== 3).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continue skips the remaining statements.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Next iteration begins.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Skipping invalid input.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Ignoring specific values.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Filtering data during iteration.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899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6105</Words>
  <Application>Microsoft Office PowerPoint</Application>
  <PresentationFormat>Widescreen</PresentationFormat>
  <Paragraphs>1107</Paragraphs>
  <Slides>67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Calibri</vt:lpstr>
      <vt:lpstr>Arial</vt:lpstr>
      <vt:lpstr>Symbol</vt:lpstr>
      <vt:lpstr>Wingdings</vt:lpstr>
      <vt:lpstr>Times New Roman</vt:lpstr>
      <vt:lpstr>Cambria</vt:lpstr>
      <vt:lpstr>Office Theme</vt:lpstr>
      <vt:lpstr>PowerPoint Presentation</vt:lpstr>
      <vt:lpstr>PowerPoint Presentation</vt:lpstr>
      <vt:lpstr>Outline</vt:lpstr>
      <vt:lpstr>Variables &amp; Types of Variable</vt:lpstr>
      <vt:lpstr>Variables &amp; Types of Variable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Types</vt:lpstr>
      <vt:lpstr>Types Data Types  in Java</vt:lpstr>
      <vt:lpstr>Types Data Types  in Java</vt:lpstr>
      <vt:lpstr>Types Data Types  in Java</vt:lpstr>
      <vt:lpstr>Type Casting  in Java</vt:lpstr>
      <vt:lpstr>Type Casting  in Java</vt:lpstr>
      <vt:lpstr>Type Casting  in Java</vt:lpstr>
      <vt:lpstr>Wrapper Classes in Java</vt:lpstr>
      <vt:lpstr>Wrapper Classes in Java</vt:lpstr>
      <vt:lpstr>Wrapper Classes in Java</vt:lpstr>
      <vt:lpstr>Wrapper Classes in Java</vt:lpstr>
      <vt:lpstr>Operators in Java</vt:lpstr>
      <vt:lpstr>Types of Operators </vt:lpstr>
      <vt:lpstr>Types of Operators </vt:lpstr>
      <vt:lpstr>Types of Operators </vt:lpstr>
      <vt:lpstr>Types of Operators </vt:lpstr>
      <vt:lpstr>Types of Operators </vt:lpstr>
      <vt:lpstr>Types of Operators </vt:lpstr>
      <vt:lpstr>Types of Operators </vt:lpstr>
      <vt:lpstr>Types of Operators </vt:lpstr>
      <vt:lpstr>Types of Operators </vt:lpstr>
      <vt:lpstr>Types of Operators </vt:lpstr>
      <vt:lpstr>Types of Operators </vt:lpstr>
      <vt:lpstr>Types of Operators </vt:lpstr>
      <vt:lpstr>Types of Operators </vt:lpstr>
      <vt:lpstr>Types of Operators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UNIT:- 02</dc:title>
  <dc:creator>admin</dc:creator>
  <cp:lastModifiedBy>MyLappy</cp:lastModifiedBy>
  <cp:revision>76</cp:revision>
  <dcterms:created xsi:type="dcterms:W3CDTF">2024-12-30T07:42:19Z</dcterms:created>
  <dcterms:modified xsi:type="dcterms:W3CDTF">2026-07-13T05:00:18Z</dcterms:modified>
</cp:coreProperties>
</file>