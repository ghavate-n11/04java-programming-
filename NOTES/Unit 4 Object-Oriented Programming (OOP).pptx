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316" r:id="rId5"/>
    <p:sldId id="318" r:id="rId6"/>
    <p:sldId id="317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73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58" r:id="rId48"/>
    <p:sldId id="359" r:id="rId49"/>
    <p:sldId id="360" r:id="rId50"/>
  </p:sldIdLst>
  <p:sldSz cx="12192000" cy="6858000"/>
  <p:notesSz cx="6858000" cy="9144000"/>
  <p:embeddedFontLst>
    <p:embeddedFont>
      <p:font typeface="Cambria" panose="02040503050406030204" pitchFamily="18" charset="0"/>
      <p:regular r:id="rId52"/>
      <p:bold r:id="rId53"/>
      <p:italic r:id="rId54"/>
      <p:boldItalic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j+QiY8+tGDTQhqpku5UfwX1jy5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84C3D5-BA56-4CB6-A2EC-A6B4E8D0C348}">
  <a:tblStyle styleId="{B584C3D5-BA56-4CB6-A2EC-A6B4E8D0C3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59" autoAdjust="0"/>
  </p:normalViewPr>
  <p:slideViewPr>
    <p:cSldViewPr snapToGrid="0">
      <p:cViewPr varScale="1">
        <p:scale>
          <a:sx n="68" d="100"/>
          <a:sy n="68" d="100"/>
        </p:scale>
        <p:origin x="792" y="-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8574575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85745750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985745750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584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9860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1497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6509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8798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363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9736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0727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979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4899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4150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1027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4008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535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7139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0813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9259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2609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830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495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295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92251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49858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69056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37311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6392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26788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19609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50215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03602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707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62097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97095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36220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80305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1515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15050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88738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02687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7152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09948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24688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08109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53960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57437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065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>
          <a:xfrm>
            <a:off x="1431607" y="2625077"/>
            <a:ext cx="9702017" cy="918223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IN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Object-Oriented Programming (OOP)</a:t>
            </a:r>
            <a:endParaRPr lang="en-US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741" y="5601409"/>
            <a:ext cx="38328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Mr.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Nilesh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Ghavate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Technical Trainer</a:t>
            </a:r>
          </a:p>
          <a:p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B.Tech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CSE AIDS </a:t>
            </a:r>
            <a:r>
              <a:rPr lang="en-US" sz="15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7" y="1"/>
            <a:ext cx="4402205" cy="871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86203" y="166858"/>
            <a:ext cx="3005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PROGRAMMING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857457505_0_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7" name="Google Shape;97;g39857457505_0_0"/>
          <p:cNvGraphicFramePr/>
          <p:nvPr/>
        </p:nvGraphicFramePr>
        <p:xfrm>
          <a:off x="4879584" y="742909"/>
          <a:ext cx="2337775" cy="476225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233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18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Google Shape;98;g39857457505_0_0"/>
          <p:cNvGraphicFramePr/>
          <p:nvPr>
            <p:extLst>
              <p:ext uri="{D42A27DB-BD31-4B8C-83A1-F6EECF244321}">
                <p14:modId xmlns:p14="http://schemas.microsoft.com/office/powerpoint/2010/main" val="93092389"/>
              </p:ext>
            </p:extLst>
          </p:nvPr>
        </p:nvGraphicFramePr>
        <p:xfrm>
          <a:off x="2512857" y="1845580"/>
          <a:ext cx="7431242" cy="1225316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371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5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Subject/Course</a:t>
                      </a:r>
                      <a:endParaRPr sz="1800" b="1" u="none" strike="noStrike" cap="none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 Oriented Programming with Java 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Title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Object-Oriented Programming (OOP)</a:t>
                      </a:r>
                      <a:endParaRPr sz="18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Google Shape;99;g39857457505_0_0"/>
          <p:cNvGraphicFramePr/>
          <p:nvPr>
            <p:extLst>
              <p:ext uri="{D42A27DB-BD31-4B8C-83A1-F6EECF244321}">
                <p14:modId xmlns:p14="http://schemas.microsoft.com/office/powerpoint/2010/main" val="3427141100"/>
              </p:ext>
            </p:extLst>
          </p:nvPr>
        </p:nvGraphicFramePr>
        <p:xfrm>
          <a:off x="1524006" y="3477842"/>
          <a:ext cx="10063950" cy="1904160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1006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Objectives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dirty="0" smtClean="0"/>
                        <a:t>Classes and Objects</a:t>
                      </a:r>
                      <a:endParaRPr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OOP’s Features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super, this, final Keywords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Interface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838200" y="147260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Classes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and Objects,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Access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Specifiers,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Encapsulation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Inheritance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of Inheritance,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super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Keyword,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Polymorphism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 Overloading, </a:t>
            </a: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 Overriding,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41476" y="1744233"/>
            <a:ext cx="738553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>
              <a:buSzPts val="2000"/>
            </a:pPr>
            <a:r>
              <a:rPr lang="en-US" dirty="0"/>
              <a:t>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Abstraction, </a:t>
            </a: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Abstract Classes, </a:t>
            </a: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Interfaces, </a:t>
            </a: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Functional Interfaces, </a:t>
            </a: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Keyword, </a:t>
            </a: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 Keyword, </a:t>
            </a:r>
          </a:p>
          <a:p>
            <a:pPr marL="342900" lvl="0" indent="-342900" algn="just"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 Class and its Methods.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OOP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787994"/>
            <a:ext cx="105156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Object-Oriented Programming models software using real-world entities.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Everything revolves around: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Behaviour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is a pure object-oriented language (except primitive types).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Real-world Examples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Employee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Mobile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Car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Laptop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Bank Account</a:t>
            </a:r>
          </a:p>
        </p:txBody>
      </p:sp>
    </p:spTree>
    <p:extLst>
      <p:ext uri="{BB962C8B-B14F-4D97-AF65-F5344CB8AC3E}">
        <p14:creationId xmlns:p14="http://schemas.microsoft.com/office/powerpoint/2010/main" val="144392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Classes and Objects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550250"/>
            <a:ext cx="105156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What is a Class?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blueprint, template, or prototype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that defines the properties (data) and behaviors (methods) of an object.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does not represent a real object but provides the structure for creating objects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Key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Points</a:t>
            </a:r>
          </a:p>
          <a:p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class is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logical entity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contains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instance variables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(data members)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methods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(member functions).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single class can be used to create multiple objects.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Memory for instance variables is allocated only when an object is created.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57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Classes and Objects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36"/>
            <a:ext cx="12192000" cy="70571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455181"/>
            <a:ext cx="581863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// Class  -&gt; Blueprint of a House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// Object -&gt; Actual House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House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String color;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rooms;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76900" y="1787994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// Instance Variables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variableName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// Methods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returnType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methodName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Statements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76900" y="899912"/>
            <a:ext cx="1957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General Syntax</a:t>
            </a:r>
          </a:p>
        </p:txBody>
      </p:sp>
    </p:spTree>
    <p:extLst>
      <p:ext uri="{BB962C8B-B14F-4D97-AF65-F5344CB8AC3E}">
        <p14:creationId xmlns:p14="http://schemas.microsoft.com/office/powerpoint/2010/main" val="337450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Classes and Objects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200" y="1256986"/>
            <a:ext cx="352372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 of a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Student Class 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Student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String name;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void display()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(id);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(name);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961888" y="1872539"/>
            <a:ext cx="636117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Explanation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Student → Class Name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 → Instance Variable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name → Instance Variable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display() → Method that prints student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class only defines the structure.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does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create any object.</a:t>
            </a:r>
          </a:p>
        </p:txBody>
      </p:sp>
    </p:spTree>
    <p:extLst>
      <p:ext uri="{BB962C8B-B14F-4D97-AF65-F5344CB8AC3E}">
        <p14:creationId xmlns:p14="http://schemas.microsoft.com/office/powerpoint/2010/main" val="45015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Classes and Objects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525534"/>
            <a:ext cx="10145726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an Object?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Object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real-world instance of a class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occupies memory and is used to access the variables and methods defined in the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Characteristics of an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Identity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Unique reference (e.g., s1)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Values of instance variables (id, name)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Actions performed through methods (display())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4810713"/>
            <a:ext cx="602517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Object Creation Syntax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referenceVariable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87785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Classes and Objects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24128" y="1434051"/>
            <a:ext cx="32367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Student s1 = new Student();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2661588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id;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String name;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void display()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ID   : " + id);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Name : " + name);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120128" y="1434051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ClassObjectDemo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Creating an object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Student s1 = new Student();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Initializing object data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s1.id = 101;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s1.name = "Rahul";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Calling method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s1.display();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75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636764"/>
            <a:ext cx="1025152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a Constructor?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constructor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special member of a class used to initialize objects.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has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same name as the class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does not have any return 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not even void.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constructor is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called automatically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when an object is created using the new keyword.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helps initialize the object's data members with default or user-defined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0" y="398753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objectName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();// Constructor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Initialization Code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0159" y="5018582"/>
            <a:ext cx="1957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General Syntax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5218" y="4953982"/>
            <a:ext cx="1138744" cy="4783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67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395253"/>
            <a:ext cx="90601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Constructor name must be the same as the class name.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constructor cannot have a return type.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executes automatically when an object is created.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class can have multiple constructors (Constructor Overloading).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3427030"/>
            <a:ext cx="8117058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How to Create a Constructor?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Steps:-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 a class.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Declare a constructor with the same name as the class.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Write initialization code inside the constructor.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 an object using the new keyword.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constructor is automatically invoked.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2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587939"/>
            <a:ext cx="38972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Why Do We Need Constructors?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2140852"/>
            <a:ext cx="92887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Purpose of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</a:p>
          <a:p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initialize object data automatically.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avoid writing initialization code repeatedly.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assign default or custom values to instance variables.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ensure every object starts with a valid state.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improve code readability and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307123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525580"/>
            <a:ext cx="1108668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Types of Constructors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Default Constructor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Takes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 parameters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Initializes objects with default or predefined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Parameterized Constructor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Accepts one or more parameters.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Initializes objects with user-specified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Java also provides a compiler-generated default constructor if no constructor is written in the class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644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305462"/>
            <a:ext cx="38892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Program 1: Default Constructor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705572"/>
            <a:ext cx="6096000" cy="40010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id;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String name;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// Default Constructor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Student()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id = 101;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name =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IN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Nilesh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";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315200" y="1593714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DefaultConstructorDemo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Creating Object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Student s1 = new Student();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Displaying Object Details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s1.display();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491900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void display()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ID   : " + id);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Name : " + name);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91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>
                <a:latin typeface="Cambria" panose="02040503050406030204" pitchFamily="18" charset="0"/>
                <a:ea typeface="Cambria" panose="02040503050406030204" pitchFamily="18" charset="0"/>
              </a:rPr>
              <a:t>Constructors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387884"/>
            <a:ext cx="3693640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id;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String name;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// Parameterized Constructor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Student(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id, String name)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this.id = id;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this.name = name;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76900" y="478715"/>
            <a:ext cx="6096000" cy="62478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void display()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ID   : " + id);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Name : " + name);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ParameterizedConstructorDemo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Creating Objects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Student s1 = new Student(101, "Rahul");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Student s2 = new Student(102, "Amit");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Displaying Object Details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s1.display();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s2.display();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/>
          </a:p>
        </p:txBody>
      </p:sp>
      <p:sp>
        <p:nvSpPr>
          <p:cNvPr id="6" name="Rectangle 5"/>
          <p:cNvSpPr/>
          <p:nvPr/>
        </p:nvSpPr>
        <p:spPr>
          <a:xfrm>
            <a:off x="838200" y="5746130"/>
            <a:ext cx="47820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Program 2: Parameterized Constructor</a:t>
            </a:r>
          </a:p>
        </p:txBody>
      </p:sp>
    </p:spTree>
    <p:extLst>
      <p:ext uri="{BB962C8B-B14F-4D97-AF65-F5344CB8AC3E}">
        <p14:creationId xmlns:p14="http://schemas.microsoft.com/office/powerpoint/2010/main" val="310351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Access Specifiers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563500"/>
            <a:ext cx="11049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 Specifiers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are keywords used to control the accessibility (visibility)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 of classes, variables, methods, and constructors.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help protect data from unauthorized access.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determine where a class member can be accessed.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 specifiers improve security and maintainability.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provides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four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access specifiers. </a:t>
            </a:r>
          </a:p>
        </p:txBody>
      </p:sp>
    </p:spTree>
    <p:extLst>
      <p:ext uri="{BB962C8B-B14F-4D97-AF65-F5344CB8AC3E}">
        <p14:creationId xmlns:p14="http://schemas.microsoft.com/office/powerpoint/2010/main" val="224990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Access Specifiers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136531"/>
              </p:ext>
            </p:extLst>
          </p:nvPr>
        </p:nvGraphicFramePr>
        <p:xfrm>
          <a:off x="838200" y="4347694"/>
          <a:ext cx="10515600" cy="198120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5028057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956801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21392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20464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73527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 Specifier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Same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Same 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Other Package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992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94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93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71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660897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849632"/>
              </p:ext>
            </p:extLst>
          </p:nvPr>
        </p:nvGraphicFramePr>
        <p:xfrm>
          <a:off x="838200" y="1724242"/>
          <a:ext cx="10515600" cy="228600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864900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34251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 Specifier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One-Line Definition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373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Accessible only within the same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70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(package-private)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Accessible only within the same package.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Accessible within the same package and by subclasses in other packages.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73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Accessible from anywhere in the program.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76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07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Encapsulation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334817"/>
            <a:ext cx="11162030" cy="234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Encapsulation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the process of wrapping data (variables) and methods into a single unit (class).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hides the internal details of an object.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members are declared as private.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 to private data is provided using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getter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setter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methods.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Encapsulation improves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security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hiding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code reusability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965980" y="3833783"/>
            <a:ext cx="837496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Why Do We Need Encapsulation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Protects sensitive data.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Prevents unauthorized access.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Improves code maintainability.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controlled access to data.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Follows Object-Oriented Programming (OOP) principles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459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Encapsulation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0" y="1874729"/>
            <a:ext cx="85877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ClassName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private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variable;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void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setVariable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value)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variable = value;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getVariable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return variable;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0393" y="1677473"/>
            <a:ext cx="9733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87525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3005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Encapsulation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82"/>
            <a:ext cx="12192000" cy="7057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100696"/>
            <a:ext cx="6096000" cy="60631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{//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Private data members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private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id;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private String name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// Setter methods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void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setId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id)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this.id = id;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void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setName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(String name)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this.name = name;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// Getter methods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getId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return id;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3620" y="636017"/>
            <a:ext cx="6096000" cy="62478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String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getName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return name;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EncapsulationDemo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Student s1 = new Student();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s1.setId(101);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s1.setName("Rahul");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ID   : " + s1.getId());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("Student Name : " + s1.getName());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804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Inheritance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0623" y="1337497"/>
            <a:ext cx="12303368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Inheritance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an OOP concept that allows one class to acquire the properties and methods of another class.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existing class is called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Parent (Superclass)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new class is called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Child (Subclass)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Java, inheritance is implemented using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keyword.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promotes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code reusability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maintainability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hierarchical relationships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049" y="3872014"/>
            <a:ext cx="81915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Why Do We Need Inheritance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Reuse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code without rewriting 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Reduce code duplication.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 maintainability.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Establish an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"is-a"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relationship between classes.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Support method overriding and runtime polymorphism.</a:t>
            </a:r>
          </a:p>
        </p:txBody>
      </p:sp>
    </p:spTree>
    <p:extLst>
      <p:ext uri="{BB962C8B-B14F-4D97-AF65-F5344CB8AC3E}">
        <p14:creationId xmlns:p14="http://schemas.microsoft.com/office/powerpoint/2010/main" val="87353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Inheritance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2369" y="1568900"/>
            <a:ext cx="6160477" cy="1857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Car has common features such as start() and stop().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SportsCar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can use these common features from Car.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SportsCar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can also have its own feature such as turbo().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52846" y="815290"/>
            <a:ext cx="6096000" cy="54784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Car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start()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("Car starts");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stop()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("Car stops");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SportsCar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extends Car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turbo()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("Turbo activated");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SportsCar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inherits start() and stop() from Car.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SportsCar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can directly use the inherited methods.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24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8489" y="913184"/>
            <a:ext cx="26084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Types of Inheritance</a:t>
            </a:r>
            <a:endParaRPr lang="en-IN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95769" y="1411189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supports different forms of inheritance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665435"/>
              </p:ext>
            </p:extLst>
          </p:nvPr>
        </p:nvGraphicFramePr>
        <p:xfrm>
          <a:off x="739726" y="2187610"/>
          <a:ext cx="10515600" cy="30784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521146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72600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Type of Inheritance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44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Single Inheritance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One parent and one child.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42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Multilevel Inheritance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Inheritance occurs in multiple levels.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0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Hierarchical Inheritance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Multiple children inherit from one parent.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4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Multiple Inheritance using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supported in Java.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759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Hybrid Inheritance using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directly supported in Java.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38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Multiple and Hybrid Inheritance using Interfaces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be achieved using interfaces in Java.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70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09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3346" y="716159"/>
            <a:ext cx="2331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Single Inheritance</a:t>
            </a:r>
            <a:endParaRPr lang="en-IN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0804" y="1417249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Single inheritance means one child class inherits from one parent class.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the simplest type of inheritance.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implemented using the extends keyword.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69850" y="1417249"/>
            <a:ext cx="6096000" cy="46063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Animal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eat()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("Animal eats");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Dog extends Animal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bark()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("Dog barks");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Dog inherits eat() from Animal.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Dog has its own method bark().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3346" y="3041668"/>
            <a:ext cx="6096000" cy="15286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Dog is an Animal.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Dog can inherit common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such as eat() from Animal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31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28327" y="957330"/>
            <a:ext cx="6096000" cy="56836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Animal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eat()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("Eating");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Dog extends Animal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bark()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("Barking");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Puppy extends Dog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play()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("Playing");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740" y="844152"/>
            <a:ext cx="6096000" cy="39395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Multilevel Inheritance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Multilevel inheritance means inheritance occurs level by level.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One class inherits from another class.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Another class then inherits from the derived class.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Example: Animal → Dog → Puppy.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Animal has common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Dog inherits from Animal.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Puppy inherits from Dog.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07534" y="5625274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Puppy can access play().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Puppy can also access bark().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Puppy can also access eat().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485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0560" y="1000363"/>
            <a:ext cx="6096000" cy="36317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Hierarchical Inheritance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Hierarchical inheritance means multiple child classes inherit from one parent class.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Common functionality is written in the parent class.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Different child classes can have their own functionality.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Vehicle is the parent.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Car, Bike, and Bus are different types of vehicles.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33957" y="462431"/>
            <a:ext cx="6096000" cy="59400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Vehicle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start()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("Vehicle starts");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Car extends Vehicle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drive()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("Car drives");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Bike extends Vehicle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ride()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("Bike rides");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46474" y="5848928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Both Car and Bike can use start().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Car has drive().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Bike has ride().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6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1515" y="815290"/>
            <a:ext cx="6096000" cy="27853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Multiple Inheritance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Multiple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inheritance means one child class inherits from multiple parent classes.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does not support multiple inheritance with classes.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main reason is the Diamond Problem.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Diamond Problem can create ambiguity about which parent method should be executed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1916" y="381170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both A and B have the same method, class C may face ambiguity.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solves this problem by not allowing multiple class inheritance.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supports multiple inheritance through interfaces.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65120" y="4278502"/>
            <a:ext cx="6096000" cy="137473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      A       B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        \     /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C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77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" y="1224945"/>
            <a:ext cx="109722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Hybrid Inheritance in Java</a:t>
            </a:r>
            <a:r>
              <a:rPr lang="en-US" sz="2000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dirty="0">
              <a:solidFill>
                <a:srgbClr val="1F1F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Hybrid </a:t>
            </a:r>
            <a:r>
              <a:rPr lang="en-US" sz="2000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inheritance is a combination of two or more types of inheritance (e.g., a mix of Single and Hierarchical, or Single and Multiple).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represents complex relationships between 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Support in </a:t>
            </a:r>
            <a:r>
              <a:rPr lang="en-US" sz="2000" b="1" dirty="0" err="1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JavaNot</a:t>
            </a:r>
            <a:r>
              <a:rPr lang="en-US" sz="2000" b="1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directly supported</a:t>
            </a:r>
            <a:r>
              <a:rPr lang="en-US" sz="2000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through classes because Java does not support multiple inheritance with classes (to avoid the Diamond Problem).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Achievable using Interfaces:</a:t>
            </a:r>
            <a:r>
              <a:rPr lang="en-US" sz="2000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By utilizing interfaces, Java allows you to implement complex hybrid inheritance structures safely.</a:t>
            </a:r>
            <a:endParaRPr lang="en-US" sz="2000" dirty="0">
              <a:solidFill>
                <a:srgbClr val="1F1F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06462" y="392014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Conceptual Structure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1F1F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Animal (Parent)</a:t>
            </a:r>
            <a:endParaRPr lang="en-US" sz="2000" dirty="0" smtClean="0">
              <a:solidFill>
                <a:srgbClr val="1F1F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Dog (Child)</a:t>
            </a:r>
            <a:endParaRPr lang="en-US" sz="2000" dirty="0" smtClean="0">
              <a:solidFill>
                <a:srgbClr val="1F1F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 \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Pet (Interface/Class)</a:t>
            </a:r>
            <a:r>
              <a:rPr lang="en-US" sz="2000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Guard (Interface/Class)</a:t>
            </a:r>
            <a:endParaRPr lang="en-US" sz="2000" dirty="0" smtClean="0">
              <a:solidFill>
                <a:srgbClr val="1F1F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94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6705" y="1000755"/>
            <a:ext cx="10179148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super Keyword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super is a keyword used to refer to the immediate parent class.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super can access the parent class variable.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super can call the parent class method.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super() can call the parent class constructor.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super is mainly used when parent and child have members with the same name.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Three Uses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super.variable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→ Access parent variable.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super.method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 → Call parent method.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super() → Call parent constructor.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24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25187" y="789672"/>
            <a:ext cx="6096000" cy="6068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Employee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salary = 30000;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Manager extends Employee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salary = 50000;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showSalary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super.salary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(salary);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30000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50000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salary refers to the child class variable.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super.salary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refers to the parent class variable.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3759" y="1037144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super Variable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Parent class has an employee salary.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Child class also has its own salary.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super.salary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accesses the parent salary.</a:t>
            </a:r>
          </a:p>
        </p:txBody>
      </p:sp>
    </p:spTree>
    <p:extLst>
      <p:ext uri="{BB962C8B-B14F-4D97-AF65-F5344CB8AC3E}">
        <p14:creationId xmlns:p14="http://schemas.microsoft.com/office/powerpoint/2010/main" val="343274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64459" y="462431"/>
            <a:ext cx="6096000" cy="63761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Animal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sound()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("Animal makes sound");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Dog extends Animal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@Override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sound()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super.sound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("Dog barks");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Animal makes sound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Dog barks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super.sound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 calls the parent implementation.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sound() in Dog provides the child implementation.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3880" y="1056952"/>
            <a:ext cx="6096000" cy="25391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super Method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super.method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 is used to call the parent class method.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useful when the child overrides the parent method.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can execute the parent implementation using super.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9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05135" y="803459"/>
            <a:ext cx="6096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Example; 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Employee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Employee()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("Employee Constructor");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Manager extends Employee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Manager()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super();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("Manager Constructor");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Employee Constructor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Manager Constructor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33400" y="986975"/>
            <a:ext cx="6096000" cy="27853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super() Constructor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super() is used to call the parent class constructor.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must be the first statement inside the child constructor.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we do not write super(), Java automatically inserts it when possible.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Parent constructor executes before the child constructor.</a:t>
            </a:r>
          </a:p>
        </p:txBody>
      </p:sp>
    </p:spTree>
    <p:extLst>
      <p:ext uri="{BB962C8B-B14F-4D97-AF65-F5344CB8AC3E}">
        <p14:creationId xmlns:p14="http://schemas.microsoft.com/office/powerpoint/2010/main" val="16023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Polymorphism</a:t>
            </a:r>
            <a:r>
              <a:rPr lang="en-IN" sz="2400" b="1" dirty="0"/>
              <a:t/>
            </a:r>
            <a:br>
              <a:rPr lang="en-IN" sz="2400" b="1" dirty="0"/>
            </a:b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199" y="1340633"/>
            <a:ext cx="101064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Polymorphism means one name with multiple forms.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allows the same method or interface to behave differently.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Polymorphism is one of the major concepts of Object-Oriented Programming.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has two main types of polymorphism.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Compile-Time Polymorphism → Method Overloading.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Runtime Polymorphism → Method Overriding.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8992" y="3804968"/>
            <a:ext cx="9724878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person can behave differently in different roles.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same person can be a Teacher, Parent, or Employee.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behavior changes according to the situation.</a:t>
            </a:r>
          </a:p>
        </p:txBody>
      </p:sp>
    </p:spTree>
    <p:extLst>
      <p:ext uri="{BB962C8B-B14F-4D97-AF65-F5344CB8AC3E}">
        <p14:creationId xmlns:p14="http://schemas.microsoft.com/office/powerpoint/2010/main" val="173766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22123" y="1082100"/>
            <a:ext cx="6096000" cy="51911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Code: 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Calculator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add(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b)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return a + b;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add(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b,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return a + b + c;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double add(double a, double b)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return a + b;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701040" y="1082100"/>
            <a:ext cx="6096000" cy="45550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Compile-Time Polymorphism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Compile-time polymorphism is achieved using method overloading.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compiler decides which method should be called.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decision is made during compilation.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Methods have the same name but different parameters.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calculator has an add() operation.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can add two numbers.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can add three numbers.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can add decimal numbers.</a:t>
            </a:r>
          </a:p>
        </p:txBody>
      </p:sp>
    </p:spTree>
    <p:extLst>
      <p:ext uri="{BB962C8B-B14F-4D97-AF65-F5344CB8AC3E}">
        <p14:creationId xmlns:p14="http://schemas.microsoft.com/office/powerpoint/2010/main" val="271336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4839" y="967640"/>
            <a:ext cx="993999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Method Overloading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Method overloading means having multiple methods with the same name.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methods must have different parameter lists.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Number of parameters can be different.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Parameter types can be different.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Order of parameter types can be different.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Return type alone cannot create method overloading.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Valid Overloading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void display(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x)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void display(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x,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y)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void display(String name)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void display(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x, String name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42560" y="4303147"/>
            <a:ext cx="6096000" cy="21441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Invalid Overloading</a:t>
            </a:r>
          </a:p>
          <a:p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display(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x)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double display(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x)</a:t>
            </a:r>
          </a:p>
          <a:p>
            <a:pPr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is invalid because only the return type is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different.1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05700" y="1358741"/>
            <a:ext cx="6096000" cy="47602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Code: 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Animal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sound()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("Animal sound");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Dog extends Animal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@Override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sound()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("Dog barks");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840" y="1145862"/>
            <a:ext cx="6096000" cy="57861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Method Overriding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Method overriding occurs when a child class provides a new implementation of a parent method.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Parent and child methods must have compatible signatures.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requires an inheritance relationship.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used to provide specific behavior in the child class.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Method overriding enables runtime polymorphism.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@Override annotation is recommended.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Every animal can make a sound.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Dog makes a bark sound.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Cat makes a meow sound.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method sound() is overridden according to the animal.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19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33039" y="503998"/>
            <a:ext cx="6096000" cy="6222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Code: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Animal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sound()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("Animal sound");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Dog extends Animal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@Override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sound()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("Dog barks");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Animal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animal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= new Dog();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animal.sound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Dog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barks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420" y="1082219"/>
            <a:ext cx="6096000" cy="24776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Runtime Polymorphism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Runtime polymorphism is achieved using method overriding.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method call is resolved at runtime.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actual object determines which overridden method executes.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also called Dynamic Method Dispatch.</a:t>
            </a:r>
          </a:p>
        </p:txBody>
      </p:sp>
      <p:sp>
        <p:nvSpPr>
          <p:cNvPr id="3" name="Rectangle 2"/>
          <p:cNvSpPr/>
          <p:nvPr/>
        </p:nvSpPr>
        <p:spPr>
          <a:xfrm>
            <a:off x="980049" y="4564911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 type is Animal.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Actual object is Dog.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Therefore, the Dog version of sound() executes</a:t>
            </a:r>
            <a:r>
              <a:rPr lang="en-US" dirty="0">
                <a:latin typeface="Arial" panose="020B0604020202020204" pitchFamily="34" charset="0"/>
              </a:rPr>
              <a:t>.</a:t>
            </a:r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95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4624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Abstract Class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394099"/>
            <a:ext cx="9192065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 abstract class is a class declared using the abstract keyword.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Features: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Cannot be instantiated directly.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contain abstract methods.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contain concrete methods.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have constructors and variables.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be extended by subclasses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93059" y="2786788"/>
            <a:ext cx="6096000" cy="30367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abstract class Animal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abstract void sound();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eat()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("Animal eats");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3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" y="976486"/>
            <a:ext cx="6096000" cy="44525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 Abstract Class: Implementation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Dog extends Animal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sound()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("Dog barks");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Dog d = new Dog();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d.sound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d.eat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39840" y="1727519"/>
            <a:ext cx="6096000" cy="28315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Dog barks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Animal eats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Important: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 subclass must implement the abstract methods unless the subclass is also abstract.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14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45580" y="1217796"/>
            <a:ext cx="6096000" cy="36522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interface Vehicle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void start();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Car implements Vehicle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public void start()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("Car starts");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49580" y="1017740"/>
            <a:ext cx="6096000" cy="45294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 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 interface is a blueprint that defines a contract for classes.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declared using the interface keyword.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Features: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class implements an interface using implements.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class can implement multiple interfaces.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Interfaces support abstraction.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Methods can include abstract, default, and static methods.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Interface fields are implicitly public, static, and final.</a:t>
            </a:r>
          </a:p>
        </p:txBody>
      </p:sp>
    </p:spTree>
    <p:extLst>
      <p:ext uri="{BB962C8B-B14F-4D97-AF65-F5344CB8AC3E}">
        <p14:creationId xmlns:p14="http://schemas.microsoft.com/office/powerpoint/2010/main" val="795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61455"/>
              </p:ext>
            </p:extLst>
          </p:nvPr>
        </p:nvGraphicFramePr>
        <p:xfrm>
          <a:off x="6354201" y="1644174"/>
          <a:ext cx="5448300" cy="4851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752725">
                  <a:extLst>
                    <a:ext uri="{9D8B030D-6E8A-4147-A177-3AD203B41FA5}">
                      <a16:colId xmlns:a16="http://schemas.microsoft.com/office/drawing/2014/main" val="340529737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976258978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Abstract Class</a:t>
                      </a:r>
                      <a:endParaRPr lang="en-IN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Interface</a:t>
                      </a:r>
                      <a:endParaRPr lang="en-IN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5697218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Declared using abstract class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Declared using interface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8700414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Extended using extends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Implemented using implements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2739424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class can extend only one class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class can implement multiple interfaces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892032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have constructors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Cannot have constructors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1036602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have instance variables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Fields are constants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628307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contain abstract and concrete methods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Primarily defines a contract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3413629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51974" y="1929207"/>
            <a:ext cx="4409343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Abstract Class vs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When to use?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Abstract class: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When classes share common state or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Interface: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When unrelated classes need to follow the same contract.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66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7453" y="887279"/>
            <a:ext cx="10944664" cy="6037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Functional Interface is an interface containing exactly one abstract method.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can have: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One abstract method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Multiple default methods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Multiple static methods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interface Calculator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add(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b);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annotation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helps the compiler verify that the interface has exactly one abstract method.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84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1" y="0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3384" y="804977"/>
            <a:ext cx="9228407" cy="529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Lambda Expression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Functional interfaces are commonly used with lambda expressions.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interface Calculator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add(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Calculator c = (a, b) -&gt; a + b;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c.add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(10, 20));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13564" y="2730056"/>
            <a:ext cx="6096000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30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Common Functional Interfaces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Predicate&lt;T&gt;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Consumer&lt;T&gt;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Function&lt;T,R&gt;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Supplier&lt;T&gt;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Runnable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62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7679" y="815290"/>
            <a:ext cx="9894278" cy="3298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this Keyword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this keyword refers to the current object.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Uses of this: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 to current class variables.</a:t>
            </a:r>
          </a:p>
          <a:p>
            <a:pPr fontAlgn="base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Call current class methods.</a:t>
            </a:r>
          </a:p>
          <a:p>
            <a:pPr fontAlgn="base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Call current class constructor.</a:t>
            </a:r>
          </a:p>
          <a:p>
            <a:pPr fontAlgn="base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Pass the current object as an argument.</a:t>
            </a:r>
          </a:p>
          <a:p>
            <a:pPr fontAlgn="base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Return the current object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34818" y="2276396"/>
            <a:ext cx="6096000" cy="41447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id;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Student(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id)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this.id = id;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Here, this.id refers to the instance variable, while id refers to the constructor parameter.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7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8017" y="1054770"/>
            <a:ext cx="10808677" cy="5498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this() Constructor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this() is used to call another constructor of the same class.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id;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String name;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Student()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this(101, "Rahul");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Student(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id, String name)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this.id = id;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this.name = name;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096000" y="5582915"/>
            <a:ext cx="6096000" cy="9130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Important Rule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this() must be the first statement inside a constructor.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47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5560" y="1030451"/>
            <a:ext cx="6096000" cy="5652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Final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Variable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MAX = 100;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Its value cannot be reassigned.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Final Method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 void display()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("Hello");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final method cannot be overridden.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Final Class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 class Vehicle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final class cannot be inherited.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79120" y="815290"/>
            <a:ext cx="6096000" cy="27597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final Keyword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final keyword is used to restrict modification.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can be applied to:</a:t>
            </a:r>
          </a:p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Variables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Methods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104430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4965" y="994610"/>
            <a:ext cx="9430044" cy="511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Object Class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 is the root class of the Java class hierarchy.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Every Java class directly or indirectly inherits from Object.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is conceptually derived from: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 extends Object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Why is Object important?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provides common methods that are available to Java objects.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42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6260" y="1090012"/>
            <a:ext cx="6096000" cy="4960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Important Object Class Methods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Returns a string representation of an object.</a:t>
            </a:r>
          </a:p>
          <a:p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student.toString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());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equals()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Compares objects for logical equality.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obj1.equals(obj2);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hashCode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Returns a hash code for the object.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652260" y="1090012"/>
            <a:ext cx="6096000" cy="22929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obj.hashCode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getClass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Returns the runtime class of the object.</a:t>
            </a:r>
          </a:p>
          <a:p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obj.getClass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74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6027" y="571659"/>
            <a:ext cx="11735973" cy="7145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More Object Class Methods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clone()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Creates a copy of an object when cloning is supported appropriately.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wait()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Causes the current thread to wait until notified or interrupted.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notify()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Wakes one thread waiting on the object's monitor.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notifyAll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Wakes all threads waiting on the object's monitor.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finalize()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Historically associated with cleanup before garbage collection, but it is deprecated and should not be used in modern Java programs.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8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4588</Words>
  <Application>Microsoft Office PowerPoint</Application>
  <PresentationFormat>Widescreen</PresentationFormat>
  <Paragraphs>900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Cambria</vt:lpstr>
      <vt:lpstr>Calibri</vt:lpstr>
      <vt:lpstr>Arial</vt:lpstr>
      <vt:lpstr>Wingdings</vt:lpstr>
      <vt:lpstr>Times New Roman</vt:lpstr>
      <vt:lpstr>Office Theme</vt:lpstr>
      <vt:lpstr>PowerPoint Presentation</vt:lpstr>
      <vt:lpstr>PowerPoint Presentation</vt:lpstr>
      <vt:lpstr>Outline</vt:lpstr>
      <vt:lpstr>Introduction to OOP</vt:lpstr>
      <vt:lpstr>Classes and Objects</vt:lpstr>
      <vt:lpstr>Classes and Objects</vt:lpstr>
      <vt:lpstr>Classes and Objects</vt:lpstr>
      <vt:lpstr>Classes and Objects</vt:lpstr>
      <vt:lpstr>Classes and Objects</vt:lpstr>
      <vt:lpstr>Constructors</vt:lpstr>
      <vt:lpstr>Constructors</vt:lpstr>
      <vt:lpstr>Constructors</vt:lpstr>
      <vt:lpstr>Constructors</vt:lpstr>
      <vt:lpstr>Constructors</vt:lpstr>
      <vt:lpstr>Constructors</vt:lpstr>
      <vt:lpstr>Access Specifiers</vt:lpstr>
      <vt:lpstr>Access Specifiers</vt:lpstr>
      <vt:lpstr>Encapsulation</vt:lpstr>
      <vt:lpstr>Encapsulation</vt:lpstr>
      <vt:lpstr>Encapsulation</vt:lpstr>
      <vt:lpstr>Inheritance</vt:lpstr>
      <vt:lpstr>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Polymorphism </vt:lpstr>
      <vt:lpstr>PowerPoint Presentation</vt:lpstr>
      <vt:lpstr>PowerPoint Presentation</vt:lpstr>
      <vt:lpstr>PowerPoint Presentation</vt:lpstr>
      <vt:lpstr>PowerPoint Presentation</vt:lpstr>
      <vt:lpstr>Abstract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UNIT:- 02</dc:title>
  <dc:creator>admin</dc:creator>
  <cp:lastModifiedBy>MyLappy</cp:lastModifiedBy>
  <cp:revision>103</cp:revision>
  <dcterms:created xsi:type="dcterms:W3CDTF">2024-12-30T07:42:19Z</dcterms:created>
  <dcterms:modified xsi:type="dcterms:W3CDTF">2026-09-07T14:43:24Z</dcterms:modified>
</cp:coreProperties>
</file>