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58" r:id="rId4"/>
    <p:sldId id="316" r:id="rId5"/>
    <p:sldId id="318" r:id="rId6"/>
    <p:sldId id="317" r:id="rId7"/>
    <p:sldId id="319" r:id="rId8"/>
    <p:sldId id="320" r:id="rId9"/>
    <p:sldId id="321" r:id="rId10"/>
    <p:sldId id="322" r:id="rId11"/>
    <p:sldId id="323" r:id="rId12"/>
    <p:sldId id="324" r:id="rId13"/>
    <p:sldId id="325" r:id="rId14"/>
    <p:sldId id="326" r:id="rId15"/>
    <p:sldId id="327" r:id="rId16"/>
    <p:sldId id="328" r:id="rId17"/>
    <p:sldId id="329" r:id="rId18"/>
    <p:sldId id="330" r:id="rId19"/>
    <p:sldId id="331" r:id="rId20"/>
    <p:sldId id="332" r:id="rId21"/>
    <p:sldId id="333" r:id="rId22"/>
    <p:sldId id="334" r:id="rId23"/>
    <p:sldId id="335" r:id="rId24"/>
    <p:sldId id="336" r:id="rId25"/>
    <p:sldId id="337" r:id="rId26"/>
    <p:sldId id="338" r:id="rId27"/>
    <p:sldId id="339" r:id="rId28"/>
    <p:sldId id="340" r:id="rId29"/>
    <p:sldId id="341" r:id="rId30"/>
    <p:sldId id="342" r:id="rId31"/>
    <p:sldId id="343" r:id="rId32"/>
    <p:sldId id="344" r:id="rId33"/>
    <p:sldId id="345" r:id="rId34"/>
    <p:sldId id="346" r:id="rId35"/>
    <p:sldId id="347" r:id="rId36"/>
    <p:sldId id="348" r:id="rId37"/>
    <p:sldId id="349" r:id="rId38"/>
    <p:sldId id="350" r:id="rId39"/>
    <p:sldId id="351" r:id="rId40"/>
    <p:sldId id="352" r:id="rId41"/>
    <p:sldId id="353" r:id="rId42"/>
    <p:sldId id="354" r:id="rId43"/>
    <p:sldId id="355" r:id="rId44"/>
    <p:sldId id="356" r:id="rId45"/>
    <p:sldId id="357" r:id="rId46"/>
    <p:sldId id="358" r:id="rId47"/>
    <p:sldId id="359" r:id="rId48"/>
    <p:sldId id="360" r:id="rId49"/>
    <p:sldId id="361" r:id="rId50"/>
    <p:sldId id="362" r:id="rId51"/>
    <p:sldId id="363" r:id="rId52"/>
    <p:sldId id="364" r:id="rId53"/>
    <p:sldId id="365" r:id="rId54"/>
    <p:sldId id="366" r:id="rId55"/>
    <p:sldId id="367" r:id="rId56"/>
    <p:sldId id="368" r:id="rId57"/>
    <p:sldId id="369" r:id="rId58"/>
    <p:sldId id="370" r:id="rId59"/>
    <p:sldId id="371" r:id="rId60"/>
    <p:sldId id="372" r:id="rId61"/>
  </p:sldIdLst>
  <p:sldSz cx="12192000" cy="6858000"/>
  <p:notesSz cx="6858000" cy="9144000"/>
  <p:embeddedFontLst>
    <p:embeddedFont>
      <p:font typeface="Cambria" panose="02040503050406030204" pitchFamily="18" charset="0"/>
      <p:regular r:id="rId63"/>
      <p:bold r:id="rId64"/>
      <p:italic r:id="rId65"/>
      <p:boldItalic r:id="rId66"/>
    </p:embeddedFont>
    <p:embeddedFont>
      <p:font typeface="Calibri" panose="020F0502020204030204" pitchFamily="34" charset="0"/>
      <p:regular r:id="rId67"/>
      <p:bold r:id="rId68"/>
      <p:italic r:id="rId69"/>
      <p:boldItalic r:id="rId7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8" roundtripDataSignature="AMtx7mj+QiY8+tGDTQhqpku5UfwX1jy5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584C3D5-BA56-4CB6-A2EC-A6B4E8D0C348}">
  <a:tblStyle styleId="{B584C3D5-BA56-4CB6-A2EC-A6B4E8D0C34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8" autoAdjust="0"/>
    <p:restoredTop sz="94259" autoAdjust="0"/>
  </p:normalViewPr>
  <p:slideViewPr>
    <p:cSldViewPr snapToGrid="0">
      <p:cViewPr varScale="1">
        <p:scale>
          <a:sx n="42" d="100"/>
          <a:sy n="42" d="100"/>
        </p:scale>
        <p:origin x="60" y="6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78" Type="http://customschemas.google.com/relationships/presentationmetadata" Target="metadata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98574575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985745750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g3985745750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45843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98601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14976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6509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587983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4363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97367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107277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9795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48993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41507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10274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40086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495350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71392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08130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9259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26099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8308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0495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4295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092251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49858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269056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763928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26788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19609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50215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03602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170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62097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70952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236220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80305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11515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15050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688738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026872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71527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099481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324688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3081094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53960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2574374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06555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771075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72926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82337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808576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804322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59615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347644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8946963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936138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970642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240624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61312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5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5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5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5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5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5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5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5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5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5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6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6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6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6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6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6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6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6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6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6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6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6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6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6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5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5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5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5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/>
          <p:cNvSpPr/>
          <p:nvPr/>
        </p:nvSpPr>
        <p:spPr>
          <a:xfrm>
            <a:off x="1431607" y="2625077"/>
            <a:ext cx="9702017" cy="918223"/>
          </a:xfrm>
          <a:custGeom>
            <a:avLst/>
            <a:gdLst/>
            <a:ahLst/>
            <a:cxnLst/>
            <a:rect l="l" t="t" r="r" b="b"/>
            <a:pathLst>
              <a:path w="7556500" h="2628900">
                <a:moveTo>
                  <a:pt x="0" y="2628900"/>
                </a:moveTo>
                <a:lnTo>
                  <a:pt x="0" y="0"/>
                </a:lnTo>
                <a:lnTo>
                  <a:pt x="7556500" y="0"/>
                </a:lnTo>
                <a:lnTo>
                  <a:pt x="7556500" y="2628900"/>
                </a:lnTo>
                <a:lnTo>
                  <a:pt x="0" y="2628900"/>
                </a:lnTo>
                <a:close/>
              </a:path>
            </a:pathLst>
          </a:custGeom>
          <a:solidFill>
            <a:srgbClr val="1F487C"/>
          </a:solidFill>
        </p:spPr>
        <p:txBody>
          <a:bodyPr wrap="square" lIns="0" tIns="0" rIns="0" bIns="0" rtlCol="0"/>
          <a:lstStyle/>
          <a:p>
            <a:pPr lvl="0" algn="ctr">
              <a:lnSpc>
                <a:spcPct val="90000"/>
              </a:lnSpc>
              <a:buClr>
                <a:schemeClr val="dk1"/>
              </a:buClr>
              <a:buSzPts val="2400"/>
            </a:pPr>
            <a:r>
              <a:rPr lang="en-IN" sz="40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Object-Oriented Programming (OOP)</a:t>
            </a:r>
            <a:endParaRPr lang="en-US" sz="4000" b="1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42741" y="5601409"/>
            <a:ext cx="383282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Mr. </a:t>
            </a:r>
            <a:r>
              <a:rPr lang="en-US" sz="2700" b="1" dirty="0" err="1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Nilesh</a:t>
            </a:r>
            <a:r>
              <a:rPr lang="en-US" sz="2700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B. </a:t>
            </a:r>
            <a:r>
              <a:rPr lang="en-US" sz="2700" b="1" dirty="0" err="1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Ghavate</a:t>
            </a:r>
            <a:r>
              <a:rPr lang="en-US" sz="2700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</a:t>
            </a:r>
            <a:r>
              <a:rPr lang="en-US" sz="1058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/>
            </a:r>
            <a:br>
              <a:rPr lang="en-US" sz="1058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</a:b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Technical Trainer</a:t>
            </a:r>
          </a:p>
          <a:p>
            <a:r>
              <a:rPr lang="en-US" b="1" dirty="0" err="1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B.Tech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CSE AIDS </a:t>
            </a:r>
            <a:r>
              <a:rPr lang="en-US" sz="1500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Department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57" y="1"/>
            <a:ext cx="4402205" cy="8718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86203" y="166858"/>
            <a:ext cx="3005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JAVA PROGRAMMING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857457505_0_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7" name="Google Shape;97;g39857457505_0_0"/>
          <p:cNvGraphicFramePr/>
          <p:nvPr/>
        </p:nvGraphicFramePr>
        <p:xfrm>
          <a:off x="4879584" y="742909"/>
          <a:ext cx="2337775" cy="476225"/>
        </p:xfrm>
        <a:graphic>
          <a:graphicData uri="http://schemas.openxmlformats.org/drawingml/2006/table">
            <a:tbl>
              <a:tblPr>
                <a:noFill/>
                <a:tableStyleId>{B584C3D5-BA56-4CB6-A2EC-A6B4E8D0C348}</a:tableStyleId>
              </a:tblPr>
              <a:tblGrid>
                <a:gridCol w="233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6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rgbClr val="000000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Lesson Plan</a:t>
                      </a:r>
                      <a:endParaRPr sz="1800" b="1" u="none" strike="noStrike" cap="none"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8" name="Google Shape;98;g39857457505_0_0"/>
          <p:cNvGraphicFramePr/>
          <p:nvPr>
            <p:extLst>
              <p:ext uri="{D42A27DB-BD31-4B8C-83A1-F6EECF244321}">
                <p14:modId xmlns:p14="http://schemas.microsoft.com/office/powerpoint/2010/main" val="93092389"/>
              </p:ext>
            </p:extLst>
          </p:nvPr>
        </p:nvGraphicFramePr>
        <p:xfrm>
          <a:off x="2512857" y="1845580"/>
          <a:ext cx="7431242" cy="1225316"/>
        </p:xfrm>
        <a:graphic>
          <a:graphicData uri="http://schemas.openxmlformats.org/drawingml/2006/table">
            <a:tbl>
              <a:tblPr>
                <a:noFill/>
                <a:tableStyleId>{B584C3D5-BA56-4CB6-A2EC-A6B4E8D0C348}</a:tableStyleId>
              </a:tblPr>
              <a:tblGrid>
                <a:gridCol w="37156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5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Subject/Course</a:t>
                      </a:r>
                      <a:endParaRPr sz="1800" b="1" u="none" strike="noStrike" cap="none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dirty="0" smtClean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Object Oriented Programming with Java </a:t>
                      </a:r>
                      <a:endParaRPr sz="1800" b="1" u="none" strike="noStrike" cap="none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3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Lesson Title</a:t>
                      </a:r>
                      <a:endParaRPr sz="1800" b="1" u="none" strike="noStrike" cap="none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en-IN" sz="1800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Object-Oriented Programming (OOP)</a:t>
                      </a:r>
                      <a:endParaRPr sz="18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9" name="Google Shape;99;g39857457505_0_0"/>
          <p:cNvGraphicFramePr/>
          <p:nvPr>
            <p:extLst>
              <p:ext uri="{D42A27DB-BD31-4B8C-83A1-F6EECF244321}">
                <p14:modId xmlns:p14="http://schemas.microsoft.com/office/powerpoint/2010/main" val="3427141100"/>
              </p:ext>
            </p:extLst>
          </p:nvPr>
        </p:nvGraphicFramePr>
        <p:xfrm>
          <a:off x="1524006" y="3477842"/>
          <a:ext cx="10063950" cy="1904160"/>
        </p:xfrm>
        <a:graphic>
          <a:graphicData uri="http://schemas.openxmlformats.org/drawingml/2006/table">
            <a:tbl>
              <a:tblPr>
                <a:noFill/>
                <a:tableStyleId>{B584C3D5-BA56-4CB6-A2EC-A6B4E8D0C348}</a:tableStyleId>
              </a:tblPr>
              <a:tblGrid>
                <a:gridCol w="1006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1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800"/>
                        <a:buFont typeface="Cambria"/>
                        <a:buNone/>
                      </a:pPr>
                      <a:r>
                        <a:rPr lang="en-US" sz="1800" b="1" u="none" strike="noStrike" cap="none">
                          <a:solidFill>
                            <a:srgbClr val="C0000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Lesson Objectives</a:t>
                      </a:r>
                      <a:endParaRPr sz="1800" b="1" u="none" strike="noStrike" cap="none">
                        <a:solidFill>
                          <a:srgbClr val="C0000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mbria"/>
                        <a:buNone/>
                      </a:pPr>
                      <a:r>
                        <a:rPr lang="en-IN" sz="1800" dirty="0" smtClean="0"/>
                        <a:t>Classes and Objects</a:t>
                      </a:r>
                      <a:endParaRPr sz="18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mbria"/>
                        <a:buNone/>
                      </a:pPr>
                      <a:r>
                        <a:rPr lang="en-IN" sz="1800" b="0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OOP’s Features</a:t>
                      </a:r>
                      <a:endParaRPr sz="1800" b="0" dirty="0"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mbria"/>
                        <a:buNone/>
                      </a:pPr>
                      <a:r>
                        <a:rPr lang="en-US" sz="1800" b="0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super</a:t>
                      </a:r>
                      <a:r>
                        <a:rPr lang="en-US" sz="1800" b="0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, this, final </a:t>
                      </a:r>
                      <a:r>
                        <a:rPr lang="en-US" sz="1800" b="0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Keywords</a:t>
                      </a:r>
                      <a:endParaRPr sz="1800" b="0" dirty="0"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mbria"/>
                        <a:buNone/>
                      </a:pPr>
                      <a:r>
                        <a:rPr lang="en-US" sz="1800" b="0" dirty="0" smtClean="0"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Interface</a:t>
                      </a:r>
                      <a:endParaRPr sz="1800" b="0" dirty="0"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</a:pPr>
            <a:r>
              <a:rPr lang="en-US" sz="2400" b="1" dirty="0">
                <a:latin typeface="Cambria"/>
                <a:ea typeface="Cambria"/>
                <a:cs typeface="Cambria"/>
                <a:sym typeface="Cambria"/>
              </a:rPr>
              <a:t>Outline</a:t>
            </a:r>
            <a:endParaRPr sz="2400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1"/>
          </p:nvPr>
        </p:nvSpPr>
        <p:spPr>
          <a:xfrm>
            <a:off x="838200" y="1472608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Classes 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and Objects, </a:t>
            </a:r>
            <a:endParaRPr lang="en-IN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Constructors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endParaRPr lang="en-IN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Access 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Specifiers, </a:t>
            </a:r>
            <a:endParaRPr lang="en-IN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endParaRPr lang="en-IN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Inheritance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endParaRPr lang="en-IN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Types 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of Inheritance, </a:t>
            </a:r>
            <a:endParaRPr lang="en-IN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super 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Keyword, </a:t>
            </a:r>
            <a:endParaRPr lang="en-IN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Polymorphism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endParaRPr lang="en-IN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Method Overloading, </a:t>
            </a:r>
          </a:p>
          <a:p>
            <a:pPr marL="228600" lvl="0" indent="-228600" algn="just">
              <a:buSzPts val="2000"/>
            </a:pP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Method Overriding,</a:t>
            </a:r>
            <a:endParaRPr sz="2000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41476" y="1744233"/>
            <a:ext cx="7385539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lvl="0" indent="-228600" algn="just">
              <a:buSzPts val="2000"/>
            </a:pPr>
            <a:r>
              <a:rPr lang="en-US" dirty="0"/>
              <a:t> 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342900" algn="just"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Abstraction, </a:t>
            </a:r>
          </a:p>
          <a:p>
            <a:pPr marL="342900" lvl="0" indent="-342900" algn="just"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Abstract Classes, </a:t>
            </a:r>
          </a:p>
          <a:p>
            <a:pPr marL="342900" lvl="0" indent="-342900" algn="just"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Interfaces, </a:t>
            </a:r>
          </a:p>
          <a:p>
            <a:pPr marL="342900" lvl="0" indent="-342900" algn="just"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Functional Interfaces, </a:t>
            </a:r>
          </a:p>
          <a:p>
            <a:pPr marL="342900" lvl="0" indent="-342900" algn="just"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this Keyword, </a:t>
            </a:r>
          </a:p>
          <a:p>
            <a:pPr marL="342900" lvl="0" indent="-342900" algn="just"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final Keyword, </a:t>
            </a:r>
          </a:p>
          <a:p>
            <a:pPr marL="342900" lvl="0" indent="-342900" algn="just"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Object Class and its Methods.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Introduction to OOP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8200" y="1787994"/>
            <a:ext cx="105156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Object-Oriented Programming models software using real-world entities.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Everything revolves around: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Objects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Behaviour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Java is a pure object-oriented language (except primitive types).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Real-world Examples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Student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Employee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Mobile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Car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Laptop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Bank Account</a:t>
            </a:r>
          </a:p>
        </p:txBody>
      </p:sp>
    </p:spTree>
    <p:extLst>
      <p:ext uri="{BB962C8B-B14F-4D97-AF65-F5344CB8AC3E}">
        <p14:creationId xmlns:p14="http://schemas.microsoft.com/office/powerpoint/2010/main" val="1443928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Classes and Objects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8200" y="1550250"/>
            <a:ext cx="105156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What is a Class?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A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is a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blueprint, template, or prototype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that defines the properties (data) and behaviors (methods) of an object.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It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does not represent a real object but provides the structure for creating objects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Key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Points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 class is a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logical entity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It contains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instance variables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(data members) and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methods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(member functions).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 single class can be used to create multiple objects.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Memory for instance variables is allocated only when an object is created.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4571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Classes and Objects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036"/>
            <a:ext cx="12192000" cy="705717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838200" y="1455181"/>
            <a:ext cx="5818632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// Class  -&gt; Blueprint of a House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// Object -&gt; Actual House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20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 House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String color;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US" altLang="en-US" sz="20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rooms;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676900" y="1787994"/>
            <a:ext cx="6096000" cy="34778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class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ClassName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// Instance Variables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dataType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variableName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// Methods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returnType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methodName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// Statements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76900" y="899912"/>
            <a:ext cx="19575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General Syntax</a:t>
            </a:r>
          </a:p>
        </p:txBody>
      </p:sp>
    </p:spTree>
    <p:extLst>
      <p:ext uri="{BB962C8B-B14F-4D97-AF65-F5344CB8AC3E}">
        <p14:creationId xmlns:p14="http://schemas.microsoft.com/office/powerpoint/2010/main" val="3374500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Classes and Objects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838200" y="1256986"/>
            <a:ext cx="3523722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Example of a Class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Student Class Example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 Student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US" altLang="en-US" sz="20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id;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String name;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20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void display()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US" altLang="en-US" sz="20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(id);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US" altLang="en-US" sz="20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(name);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kumimoji="0" lang="en-US" altLang="en-US" sz="20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5961888" y="1872539"/>
            <a:ext cx="6361176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Explanation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Student → Class Name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id → Instance Variable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name → Instance Variable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display() → Method that prints student details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Note: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This class only defines the structure.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It does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not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create any object.</a:t>
            </a:r>
          </a:p>
        </p:txBody>
      </p:sp>
    </p:spTree>
    <p:extLst>
      <p:ext uri="{BB962C8B-B14F-4D97-AF65-F5344CB8AC3E}">
        <p14:creationId xmlns:p14="http://schemas.microsoft.com/office/powerpoint/2010/main" val="450159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Classes and Objects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838200" y="1525534"/>
            <a:ext cx="10145726" cy="3754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What is an Object?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An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Object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is a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real-world instance of a class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It occupies memory and is used to access the variables and methods defined in the class.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Characteristics of an Object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Identity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– Unique reference (e.g., s1)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State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– Values of instance variables (id, name)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Behavior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– Actions performed through methods (display())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838200" y="4810713"/>
            <a:ext cx="602517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Object Creation Syntax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ClassName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referenceVariable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= new </a:t>
            </a:r>
            <a:r>
              <a:rPr kumimoji="0" lang="en-US" altLang="en-US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ClassName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877850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Classes and Objects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024128" y="1434051"/>
            <a:ext cx="323678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Student s1 = new Student();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2661588"/>
            <a:ext cx="6096000" cy="369331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class Student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id;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String name;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void display()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("Student ID   : " + id);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("Student Name : " + name);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endParaRPr lang="en-IN" dirty="0"/>
          </a:p>
        </p:txBody>
      </p:sp>
      <p:sp>
        <p:nvSpPr>
          <p:cNvPr id="8" name="Rectangle 7"/>
          <p:cNvSpPr/>
          <p:nvPr/>
        </p:nvSpPr>
        <p:spPr>
          <a:xfrm>
            <a:off x="7120128" y="1434051"/>
            <a:ext cx="6096000" cy="470898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public class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ClassObjectDemo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public static void main(String[]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// Creating an object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Student s1 = new Student();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// Initializing object data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s1.id = 101;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s1.name = "Rahul";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// Calling method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s1.display();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52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Constructors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838200" y="1636764"/>
            <a:ext cx="10251524" cy="2523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What is a Constructor?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constructor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is a special member of a class used to initialize objects.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It has the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same name as the class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It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does not have any return type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not even void.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 constructor is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called automatically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when an object is created using the new keyword.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It helps initialize the object's data members with default or user-defined values.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096000" y="3987531"/>
            <a:ext cx="6096000" cy="286232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class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ClassName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ClassName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objectName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= new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ClassName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();// Constructor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ClassName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// Initialization Code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0159" y="5018582"/>
            <a:ext cx="19575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General Syntax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5218" y="4953982"/>
            <a:ext cx="1138744" cy="4783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2678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Constructors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38200" y="1395253"/>
            <a:ext cx="906018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Rules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Constructor name must be the same as the class name.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 constructor cannot have a return type.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It executes automatically when an object is created.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 class can have multiple constructors (Constructor Overloading). </a:t>
            </a: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838200" y="3427030"/>
            <a:ext cx="8117058" cy="2831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How to Create a Constructor?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Steps:-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Create a class.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Declare a constructor with the same name as the class.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Write initialization code inside the constructor.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Create an object using the new keyword.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The constructor is automatically invoked.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237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>
                <a:latin typeface="Cambria" panose="02040503050406030204" pitchFamily="18" charset="0"/>
                <a:ea typeface="Cambria" panose="02040503050406030204" pitchFamily="18" charset="0"/>
              </a:rPr>
              <a:t>Constructors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38200" y="1587939"/>
            <a:ext cx="389722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Why Do We Need Constructors?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38200" y="2140852"/>
            <a:ext cx="928878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Purpose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Constructors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To initialize object data automatically.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To avoid writing initialization code repeatedly.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To assign default or custom values to instance variables.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To ensure every object starts with a valid state.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To improve code readability and maintainability.</a:t>
            </a:r>
          </a:p>
        </p:txBody>
      </p:sp>
    </p:spTree>
    <p:extLst>
      <p:ext uri="{BB962C8B-B14F-4D97-AF65-F5344CB8AC3E}">
        <p14:creationId xmlns:p14="http://schemas.microsoft.com/office/powerpoint/2010/main" val="3071234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>
                <a:latin typeface="Cambria" panose="02040503050406030204" pitchFamily="18" charset="0"/>
                <a:ea typeface="Cambria" panose="02040503050406030204" pitchFamily="18" charset="0"/>
              </a:rPr>
              <a:t>Constructors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838200" y="1525580"/>
            <a:ext cx="11086689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Types of Constructors in Java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Default Constructor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Takes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no parameters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Initializes objects with default or predefined values.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2. Parameterized Constructor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Accepts one or more parameters.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Initializes objects with user-specified values.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Note: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Java also provides a compiler-generated default constructor if no constructor is written in the class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6447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>
                <a:latin typeface="Cambria" panose="02040503050406030204" pitchFamily="18" charset="0"/>
                <a:ea typeface="Cambria" panose="02040503050406030204" pitchFamily="18" charset="0"/>
              </a:rPr>
              <a:t>Constructors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38200" y="1305462"/>
            <a:ext cx="38892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Program 1: Default Constructor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1705572"/>
            <a:ext cx="6096000" cy="400109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class Student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id;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String name;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// Default Constructor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Student()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id = 101;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name = "Rahul";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7315200" y="1593714"/>
            <a:ext cx="6096000" cy="34778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public class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DefaultConstructorDemo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public static void main(String[]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// Creating Object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Student s1 = new Student();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// Displaying Object Details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s1.display();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219200" y="4919008"/>
            <a:ext cx="6096000" cy="193899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void display()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("Student ID   : " + id);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("Student Name : " + name);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0916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>
                <a:latin typeface="Cambria" panose="02040503050406030204" pitchFamily="18" charset="0"/>
                <a:ea typeface="Cambria" panose="02040503050406030204" pitchFamily="18" charset="0"/>
              </a:rPr>
              <a:t>Constructors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38200" y="1387884"/>
            <a:ext cx="3693640" cy="37856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class Student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id;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String name;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// Parameterized Constructor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Student(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id, String name)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this.id = id;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this.name = name;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76900" y="478715"/>
            <a:ext cx="6096000" cy="624786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void display()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("Student ID   : " + id);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("Student Name : " + name);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public class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ParameterizedConstructorDemo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public static void main(String[]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// Creating Objects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Student s1 = new Student(101, "Rahul");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Student s2 = new Student(102, "Amit");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// Displaying Object Details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s1.display();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s2.display();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/>
          </a:p>
        </p:txBody>
      </p:sp>
      <p:sp>
        <p:nvSpPr>
          <p:cNvPr id="6" name="Rectangle 5"/>
          <p:cNvSpPr/>
          <p:nvPr/>
        </p:nvSpPr>
        <p:spPr>
          <a:xfrm>
            <a:off x="838200" y="5746130"/>
            <a:ext cx="47820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Program 2: Parameterized Constructor</a:t>
            </a:r>
          </a:p>
        </p:txBody>
      </p:sp>
    </p:spTree>
    <p:extLst>
      <p:ext uri="{BB962C8B-B14F-4D97-AF65-F5344CB8AC3E}">
        <p14:creationId xmlns:p14="http://schemas.microsoft.com/office/powerpoint/2010/main" val="3103519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Access Specifiers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838200" y="1592033"/>
            <a:ext cx="11049000" cy="28052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Access Specifiers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are keywords used to control the accessibility (visibility)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of classes, variables, methods, and constructors.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They help protect data from unauthorized access.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They determine where a class member can be accessed.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Access specifiers improve security and maintainability.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Java provides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four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access specifiers. </a:t>
            </a:r>
          </a:p>
        </p:txBody>
      </p:sp>
    </p:spTree>
    <p:extLst>
      <p:ext uri="{BB962C8B-B14F-4D97-AF65-F5344CB8AC3E}">
        <p14:creationId xmlns:p14="http://schemas.microsoft.com/office/powerpoint/2010/main" val="2249908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Access Specifiers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1136531"/>
              </p:ext>
            </p:extLst>
          </p:nvPr>
        </p:nvGraphicFramePr>
        <p:xfrm>
          <a:off x="838200" y="4347694"/>
          <a:ext cx="10515600" cy="1981200"/>
        </p:xfrm>
        <a:graphic>
          <a:graphicData uri="http://schemas.openxmlformats.org/drawingml/2006/table">
            <a:tbl>
              <a:tblPr>
                <a:tableStyleId>{B584C3D5-BA56-4CB6-A2EC-A6B4E8D0C348}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5028057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9568016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213925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5204641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735275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sz="2000" b="1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Access Specifier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Same 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Same Package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Subclass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Other Package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09922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 b="1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private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  <a:endParaRPr lang="en-IN" sz="20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NO</a:t>
                      </a:r>
                      <a:endParaRPr lang="en-IN" sz="20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NO</a:t>
                      </a:r>
                      <a:endParaRPr lang="en-IN" sz="20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NO</a:t>
                      </a:r>
                      <a:endParaRPr lang="en-IN" sz="20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2941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 b="1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(default)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NO</a:t>
                      </a:r>
                      <a:endParaRPr lang="en-IN" sz="20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NO</a:t>
                      </a:r>
                      <a:endParaRPr lang="en-IN" sz="20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6934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 b="1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NO</a:t>
                      </a:r>
                      <a:endParaRPr lang="en-IN" sz="2000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8712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public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9660897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9849632"/>
              </p:ext>
            </p:extLst>
          </p:nvPr>
        </p:nvGraphicFramePr>
        <p:xfrm>
          <a:off x="838200" y="1724242"/>
          <a:ext cx="10515600" cy="2286000"/>
        </p:xfrm>
        <a:graphic>
          <a:graphicData uri="http://schemas.openxmlformats.org/drawingml/2006/table">
            <a:tbl>
              <a:tblPr>
                <a:tableStyleId>{B584C3D5-BA56-4CB6-A2EC-A6B4E8D0C348}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98649007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342510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sz="2000" b="1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Access Specifier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2000" b="1" dirty="0" smtClean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One-Line Definition</a:t>
                      </a:r>
                      <a:endParaRPr lang="en-IN" sz="2000" b="1" dirty="0">
                        <a:latin typeface="Cambria" panose="02040503050406030204" pitchFamily="18" charset="0"/>
                        <a:ea typeface="Cambria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03739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private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Accessible only within the same class.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07087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 b="1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default (package-private)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Accessible only within the same package.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3859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 b="1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Accessible within the same package and by subclasses in other packages.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1737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000" b="1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public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Accessible from anywhere in the program.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5766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8079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838200" y="1334817"/>
            <a:ext cx="11162030" cy="2343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is the process of wrapping data (variables) and methods into a single unit (class).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It hides the internal details of an object.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Data members are declared as private.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Access to private data is provided using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getter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and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setter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methods.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Encapsulation improves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security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data hiding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and </a:t>
            </a: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code reusability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</p:txBody>
      </p:sp>
      <p:sp>
        <p:nvSpPr>
          <p:cNvPr id="4" name="Rectangle 3"/>
          <p:cNvSpPr/>
          <p:nvPr/>
        </p:nvSpPr>
        <p:spPr>
          <a:xfrm>
            <a:off x="965980" y="3833783"/>
            <a:ext cx="8374967" cy="3016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Why Do We Need Encapsulation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?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Protects sensitive data.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Prevents unauthorized access.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Improves code maintainability.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Provides controlled access to data.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Follows Object-Oriented Programming (OOP) principles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4595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048000" y="1874729"/>
            <a:ext cx="858774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class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ClassName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private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dataType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variable;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public void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setVariable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dataType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value)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variable = value;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public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dataType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getVariable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return variable;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0393" y="1677473"/>
            <a:ext cx="97334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000" b="1" dirty="0">
                <a:latin typeface="Cambria" panose="02040503050406030204" pitchFamily="18" charset="0"/>
                <a:ea typeface="Cambria" panose="02040503050406030204" pitchFamily="18" charset="0"/>
              </a:rPr>
              <a:t>Syntax</a:t>
            </a:r>
          </a:p>
        </p:txBody>
      </p:sp>
    </p:spTree>
    <p:extLst>
      <p:ext uri="{BB962C8B-B14F-4D97-AF65-F5344CB8AC3E}">
        <p14:creationId xmlns:p14="http://schemas.microsoft.com/office/powerpoint/2010/main" val="3875258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30051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9682"/>
            <a:ext cx="12192000" cy="70571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8200" y="1100696"/>
            <a:ext cx="6096000" cy="606319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class Student</a:t>
            </a:r>
          </a:p>
          <a:p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{// 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Private data members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private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id;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private String name</a:t>
            </a: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// Setter methods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public void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setId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id)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this.id = id;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public void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setName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(String name)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this.name = name;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</a:t>
            </a:r>
            <a:r>
              <a:rPr lang="en-IN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// Getter methods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public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getId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return id;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endParaRPr lang="en-IN" dirty="0"/>
          </a:p>
          <a:p>
            <a:r>
              <a:rPr lang="en-IN" dirty="0"/>
              <a:t>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6103620" y="636017"/>
            <a:ext cx="6096000" cy="624786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public String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getName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return name;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public class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EncapsulationDemo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public static void main(String[]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{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Student s1 = new Student();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s1.setId(101);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s1.setName("Rahul");</a:t>
            </a:r>
          </a:p>
          <a:p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("Student ID   : " + s1.getId());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("Student Name : " + s1.getName());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   }</a:t>
            </a: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048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Inheritance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838200" y="1478196"/>
            <a:ext cx="11125161" cy="21185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Inheritance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is an OOP concept that allows one class to acquire the properties and methods of another class.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The existing class is called the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Parent (Superclass)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The new class is called the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Child (Subclass)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In Java, inheritance is implemented using the </a:t>
            </a:r>
            <a:r>
              <a:rPr kumimoji="0" lang="en-US" altLang="en-US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extends</a:t>
            </a: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keyword.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It promotes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code reusability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maintainability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, and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hierarchical relationships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" y="3886081"/>
            <a:ext cx="819150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Why Do We Need Inheritance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Reuse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existing code without rewriting it.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Reduce code duplication.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Improve maintainability.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Establish an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"is-a"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relationship between classes.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Support method overriding and runtime polymorphism.</a:t>
            </a:r>
          </a:p>
        </p:txBody>
      </p:sp>
    </p:spTree>
    <p:extLst>
      <p:ext uri="{BB962C8B-B14F-4D97-AF65-F5344CB8AC3E}">
        <p14:creationId xmlns:p14="http://schemas.microsoft.com/office/powerpoint/2010/main" val="87353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Inheritance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247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6098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14319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67485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3967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2770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2249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2747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8695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0235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7661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13360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959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7192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095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3338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17143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50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4667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0845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20623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83978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5473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44309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04427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37419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21487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54325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566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28094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5053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6514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0746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2013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147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93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93187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7453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46243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2400"/>
            </a:pP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  <a:endParaRPr sz="2400" b="1"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38200" y="1787994"/>
            <a:ext cx="6096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Encapsulation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Provides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Data Hiding.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Improves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Security.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Prevents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Unauthorized Access. 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Makes Code Easy to Maintain.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Increases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Flexibility and Reusability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63170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562</TotalTime>
  <Words>2538</Words>
  <Application>Microsoft Office PowerPoint</Application>
  <PresentationFormat>Widescreen</PresentationFormat>
  <Paragraphs>701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Times New Roman</vt:lpstr>
      <vt:lpstr>Cambria</vt:lpstr>
      <vt:lpstr>Calibri</vt:lpstr>
      <vt:lpstr>Arial</vt:lpstr>
      <vt:lpstr>Wingdings</vt:lpstr>
      <vt:lpstr>Office Theme</vt:lpstr>
      <vt:lpstr>PowerPoint Presentation</vt:lpstr>
      <vt:lpstr>PowerPoint Presentation</vt:lpstr>
      <vt:lpstr>Outline</vt:lpstr>
      <vt:lpstr>Introduction to OOP</vt:lpstr>
      <vt:lpstr>Classes and Objects</vt:lpstr>
      <vt:lpstr>Classes and Objects</vt:lpstr>
      <vt:lpstr>Classes and Objects</vt:lpstr>
      <vt:lpstr>Classes and Objects</vt:lpstr>
      <vt:lpstr>Classes and Objects</vt:lpstr>
      <vt:lpstr>Constructors</vt:lpstr>
      <vt:lpstr>Constructors</vt:lpstr>
      <vt:lpstr>Constructors</vt:lpstr>
      <vt:lpstr>Constructors</vt:lpstr>
      <vt:lpstr>Constructors</vt:lpstr>
      <vt:lpstr>Constructors</vt:lpstr>
      <vt:lpstr>Access Specifiers</vt:lpstr>
      <vt:lpstr>Access Specifiers</vt:lpstr>
      <vt:lpstr>Encapsulation</vt:lpstr>
      <vt:lpstr>Encapsulation</vt:lpstr>
      <vt:lpstr>Encapsulation</vt:lpstr>
      <vt:lpstr>Inheritance</vt:lpstr>
      <vt:lpstr>Inheritance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  <vt:lpstr>Encapsulation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UNIT:- 02</dc:title>
  <dc:creator>admin</dc:creator>
  <cp:lastModifiedBy>MyLappy</cp:lastModifiedBy>
  <cp:revision>88</cp:revision>
  <dcterms:created xsi:type="dcterms:W3CDTF">2024-12-30T07:42:19Z</dcterms:created>
  <dcterms:modified xsi:type="dcterms:W3CDTF">2026-07-25T08:58:53Z</dcterms:modified>
</cp:coreProperties>
</file>