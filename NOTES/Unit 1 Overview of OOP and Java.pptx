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37" r:id="rId10"/>
    <p:sldId id="33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35" r:id="rId59"/>
    <p:sldId id="312" r:id="rId60"/>
    <p:sldId id="336" r:id="rId61"/>
    <p:sldId id="313" r:id="rId62"/>
    <p:sldId id="314" r:id="rId6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jnNpjTuhEUpIv0O5zL0Jfup7Zz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0EBBE-02D0-4D45-A4C4-CDA86BBD5BD3}">
  <a:tblStyle styleId="{1770EBBE-02D0-4D45-A4C4-CDA86BBD5B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9033BA-2F5D-4F5B-86F4-9E1D817FBCB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84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069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522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48416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06444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8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javase-downloads.html?utm_source=chatgpt.com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openjdk.org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lipse.org/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code.visualstudio.com/" TargetMode="External"/><Relationship Id="rId5" Type="http://schemas.openxmlformats.org/officeDocument/2006/relationships/hyperlink" Target="http://www.netbeans.apache.org/" TargetMode="External"/><Relationship Id="rId4" Type="http://schemas.openxmlformats.org/officeDocument/2006/relationships/hyperlink" Target="http://www.jetbrains.com/idea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1114698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1638886" y="2461845"/>
            <a:ext cx="9143999" cy="1434905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pPr lvl="0" algn="ctr">
              <a:lnSpc>
                <a:spcPct val="250000"/>
              </a:lnSpc>
              <a:spcBef>
                <a:spcPts val="1000"/>
              </a:spcBef>
              <a:buClr>
                <a:schemeClr val="dk1"/>
              </a:buClr>
              <a:buSzPts val="4000"/>
            </a:pPr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Overview of OOP and Java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1" y="5601409"/>
            <a:ext cx="3832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 </a:t>
            </a:r>
            <a:r>
              <a:rPr lang="en-US" sz="27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Nilesh</a:t>
            </a:r>
            <a:r>
              <a:rPr lang="en-US" sz="27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B. </a:t>
            </a:r>
            <a:r>
              <a:rPr lang="en-US" sz="27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Ghavate</a:t>
            </a:r>
            <a:r>
              <a:rPr lang="en-US" sz="27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058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1058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Trainer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B.TECH CSE AIDS Department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2"/>
          <p:cNvGraphicFramePr/>
          <p:nvPr>
            <p:extLst>
              <p:ext uri="{D42A27DB-BD31-4B8C-83A1-F6EECF244321}">
                <p14:modId xmlns:p14="http://schemas.microsoft.com/office/powerpoint/2010/main" val="943205856"/>
              </p:ext>
            </p:extLst>
          </p:nvPr>
        </p:nvGraphicFramePr>
        <p:xfrm>
          <a:off x="4471009" y="365759"/>
          <a:ext cx="2337775" cy="476225"/>
        </p:xfrm>
        <a:graphic>
          <a:graphicData uri="http://schemas.openxmlformats.org/drawingml/2006/table">
            <a:tbl>
              <a:tblPr>
                <a:noFill/>
                <a:tableStyleId>{1770EBBE-02D0-4D45-A4C4-CDA86BBD5BD3}</a:tableStyleId>
              </a:tblPr>
              <a:tblGrid>
                <a:gridCol w="233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800" b="1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1" name="Google Shape;91;p2"/>
          <p:cNvGraphicFramePr/>
          <p:nvPr>
            <p:extLst>
              <p:ext uri="{D42A27DB-BD31-4B8C-83A1-F6EECF244321}">
                <p14:modId xmlns:p14="http://schemas.microsoft.com/office/powerpoint/2010/main" val="1502112322"/>
              </p:ext>
            </p:extLst>
          </p:nvPr>
        </p:nvGraphicFramePr>
        <p:xfrm>
          <a:off x="2056744" y="1057630"/>
          <a:ext cx="7227934" cy="792500"/>
        </p:xfrm>
        <a:graphic>
          <a:graphicData uri="http://schemas.openxmlformats.org/drawingml/2006/table">
            <a:tbl>
              <a:tblPr>
                <a:noFill/>
                <a:tableStyleId>{1770EBBE-02D0-4D45-A4C4-CDA86BBD5BD3}</a:tableStyleId>
              </a:tblPr>
              <a:tblGrid>
                <a:gridCol w="3613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Subject/Course</a:t>
                      </a:r>
                      <a:endParaRPr sz="2000" b="1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libri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Programming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20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Overview of OOP and Java</a:t>
                      </a:r>
                      <a:endParaRPr sz="2000" b="1" dirty="0">
                        <a:solidFill>
                          <a:srgbClr val="0070C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Google Shape;92;p2"/>
          <p:cNvGraphicFramePr/>
          <p:nvPr>
            <p:extLst>
              <p:ext uri="{D42A27DB-BD31-4B8C-83A1-F6EECF244321}">
                <p14:modId xmlns:p14="http://schemas.microsoft.com/office/powerpoint/2010/main" val="2662029502"/>
              </p:ext>
            </p:extLst>
          </p:nvPr>
        </p:nvGraphicFramePr>
        <p:xfrm>
          <a:off x="967856" y="2463117"/>
          <a:ext cx="10063950" cy="1988425"/>
        </p:xfrm>
        <a:graphic>
          <a:graphicData uri="http://schemas.openxmlformats.org/drawingml/2006/table">
            <a:tbl>
              <a:tblPr>
                <a:noFill/>
                <a:tableStyleId>{1770EBBE-02D0-4D45-A4C4-CDA86BBD5BD3}</a:tableStyleId>
              </a:tblPr>
              <a:tblGrid>
                <a:gridCol w="1006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Objectives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Programming Paradigms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OOP Features</a:t>
                      </a:r>
                      <a:endParaRPr sz="20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JVM Architecture, JRE, JDK,</a:t>
                      </a:r>
                      <a:endParaRPr sz="20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Environment Setup</a:t>
                      </a:r>
                      <a:endParaRPr sz="20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838200" y="984738"/>
            <a:ext cx="10515600" cy="67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03200" algn="just">
              <a:spcBef>
                <a:spcPts val="0"/>
              </a:spcBef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Programming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Paradigms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032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Procedural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vs Object-Oriented Programming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032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OOP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032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History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032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Feature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of Java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03200" algn="just">
              <a:lnSpc>
                <a:spcPct val="110000"/>
              </a:lnSpc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JVM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41300" algn="just">
              <a:lnSpc>
                <a:spcPct val="110000"/>
              </a:lnSpc>
              <a:spcBef>
                <a:spcPts val="0"/>
              </a:spcBef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JRE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JDK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413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Program Structure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413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Compilation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and Execution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Process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  <a:p>
            <a:pPr marL="228600" lvl="0" indent="-2413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Environment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Setup </a:t>
            </a:r>
          </a:p>
          <a:p>
            <a:pPr marL="228600" lvl="0" indent="-241300" algn="just">
              <a:buSzPts val="2000"/>
              <a:buFont typeface="Cambria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JDK Installation</a:t>
            </a:r>
          </a:p>
          <a:p>
            <a:pPr marL="228600" lvl="0" indent="-241300" algn="just">
              <a:buSzPts val="2000"/>
              <a:buFont typeface="Cambria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Introduction to IDEs.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>
            <a:spLocks noGrp="1"/>
          </p:cNvSpPr>
          <p:nvPr>
            <p:ph type="title"/>
          </p:nvPr>
        </p:nvSpPr>
        <p:spPr>
          <a:xfrm>
            <a:off x="838200" y="1168298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3100"/>
            </a:pPr>
            <a:r>
              <a:rPr lang="en-IN" sz="2700" b="1" dirty="0">
                <a:latin typeface="Cambria" panose="02040503050406030204" pitchFamily="18" charset="0"/>
                <a:ea typeface="Cambria" panose="02040503050406030204" pitchFamily="18" charset="0"/>
              </a:rPr>
              <a:t>Programming Paradigms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Cambria"/>
              </a:rPr>
              <a:t/>
            </a:r>
            <a:b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Cambria"/>
              </a:rPr>
            </a:b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/>
            </a:r>
            <a:br>
              <a:rPr lang="en-US" sz="2400" dirty="0">
                <a:latin typeface="Cambria"/>
                <a:ea typeface="Cambria"/>
                <a:cs typeface="Cambria"/>
                <a:sym typeface="Cambria"/>
              </a:rPr>
            </a:b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 smtClean="0"/>
              <a:t>What </a:t>
            </a:r>
            <a:r>
              <a:rPr lang="en-US" sz="2000" b="1" dirty="0"/>
              <a:t>is a Programming Paradigm?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 programming paradigm is a fundamental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of building and organizing computer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programs.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/>
              <a:t>It defines how programs are structured and organized. </a:t>
            </a:r>
          </a:p>
          <a:p>
            <a:r>
              <a:rPr lang="en-US" sz="2000" dirty="0"/>
              <a:t>Different paradigms solve problems in different ways. </a:t>
            </a:r>
          </a:p>
          <a:p>
            <a:r>
              <a:rPr lang="en-US" sz="2000" dirty="0"/>
              <a:t>Java supports multiple programming paradigms, Because it supports more than one programming style.</a:t>
            </a:r>
          </a:p>
          <a:p>
            <a:pPr marL="228600" lvl="0" indent="-203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•"/>
            </a:pP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9743" y="1469172"/>
            <a:ext cx="4995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Types of Programming Paradigms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28562" y="1836152"/>
            <a:ext cx="780687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Procedural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-Oriented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Programming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Object-Oriented Programming (OOP)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Functional Programming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Event-Driven Programming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508361"/>
              </p:ext>
            </p:extLst>
          </p:nvPr>
        </p:nvGraphicFramePr>
        <p:xfrm>
          <a:off x="879231" y="1861625"/>
          <a:ext cx="10515600" cy="4785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211725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255713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0884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Feature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Procedural Programming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Object-Oriented Programming (OOP)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28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Focus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Functions and procedures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Objects and classes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73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Approach</a:t>
                      </a:r>
                      <a:endParaRPr lang="en-IN" sz="2000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Top-down approach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Bottom-up approach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529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Data Handling</a:t>
                      </a:r>
                      <a:endParaRPr lang="en-IN" sz="2000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and functions are separate</a:t>
                      </a:r>
                      <a:endParaRPr lang="en-US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Data and methods are combined into objects</a:t>
                      </a:r>
                      <a:endParaRPr lang="en-US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420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Security</a:t>
                      </a:r>
                      <a:endParaRPr lang="en-IN" sz="2000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Less secure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More secure through encapsulation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40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Code Reusability</a:t>
                      </a:r>
                      <a:endParaRPr lang="en-IN" sz="2000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Limited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 through inheritance and polymorphism</a:t>
                      </a:r>
                      <a:endParaRPr lang="en-US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78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Maintenance</a:t>
                      </a:r>
                      <a:endParaRPr lang="en-IN" sz="2000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Difficult for large programs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Easier for large programs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94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Problem Solving</a:t>
                      </a:r>
                      <a:endParaRPr lang="en-IN" sz="2000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Step-by-step instructions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Real-world object modeling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73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Examples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C, Pascal, BASIC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Java, C++, C#, Python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9882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18454" y="1242378"/>
            <a:ext cx="95974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Difference Between Procedural and Object-Oriented Programming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59119" y="1089847"/>
            <a:ext cx="100050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Difference Between Functional Programming and Event-Driven Programming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059534"/>
              </p:ext>
            </p:extLst>
          </p:nvPr>
        </p:nvGraphicFramePr>
        <p:xfrm>
          <a:off x="903849" y="1604743"/>
          <a:ext cx="10515600" cy="46329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81467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319749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48667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Functional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Event-Driven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04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Functions and data 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Events and event handlers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765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Execution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Executes by calling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Executes when an event occurs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759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Uses immutable data (data doesn't change)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changes based on user/system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903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Control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Determined by function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Determined by events such as clicks, inputs, messages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610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Avoids shared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Often maintains application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2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processing, calculations, parallel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GUI applications, web </a:t>
                      </a:r>
                      <a:r>
                        <a:rPr lang="fr-FR" sz="17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apps</a:t>
                      </a:r>
                      <a:r>
                        <a:rPr lang="fr-FR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mobile </a:t>
                      </a:r>
                      <a:r>
                        <a:rPr lang="fr-FR" sz="17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apps</a:t>
                      </a:r>
                      <a:endParaRPr lang="fr-FR" sz="17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2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Code 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due to pure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Depends on event handlers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52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Examples in 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Lambda Expressions, Stream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Swing, JavaFX, AWT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88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Real-World Analogy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Mathematical calculations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Doorbell or traffic signal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204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Programming 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Haskell, Scala, Lisp, 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Java, JavaScript, C#,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16117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7567" y="1492032"/>
            <a:ext cx="2635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OOP Features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97567" y="2161878"/>
            <a:ext cx="937523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Object-Oriented Programming (OOP)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OOP is a programming paradigm based on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Objects and Classes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It models real-world entities in software.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primarily an Object-Oriented Programming language.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Code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Reusability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Security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Easy Maintenance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Real-World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Modeling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7567" y="1492032"/>
            <a:ext cx="2635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OOP Features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97567" y="2161878"/>
            <a:ext cx="937523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Object-Oriented Programming (OOP)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OOP is a programming paradigm based on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Objects and Classes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It models real-world entities in software.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primarily an Object-Oriented Programming language.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Code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Reusability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Security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Easy Maintenance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Real-World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Modeling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8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7567" y="1492032"/>
            <a:ext cx="2635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OOP Features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566117" y="1322835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CodeReusability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b)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return a + b;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subtract(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b)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return a - b;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CodeReu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CodeReusability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CodeReusability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("Addition = " +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obj.add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(10, 5));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("Subtraction = " +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obj.subtract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(10, 5));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838200" y="1026942"/>
            <a:ext cx="10515600" cy="66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Main Features of OOP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14911"/>
            <a:ext cx="9273987" cy="354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Four Pillars of OOP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Encapsulation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Inheritance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Polymorphism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Abstraction </a:t>
            </a:r>
          </a:p>
          <a:p>
            <a:pPr marL="1143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These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four concepts form the foundation of Object-Oriented Programming.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>
            <a:spLocks noGrp="1"/>
          </p:cNvSpPr>
          <p:nvPr>
            <p:ph type="title"/>
          </p:nvPr>
        </p:nvSpPr>
        <p:spPr>
          <a:xfrm>
            <a:off x="1344643" y="1170285"/>
            <a:ext cx="66813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50" name="Google Shape;150;p11"/>
          <p:cNvSpPr txBox="1">
            <a:spLocks noGrp="1"/>
          </p:cNvSpPr>
          <p:nvPr>
            <p:ph type="body" idx="1"/>
          </p:nvPr>
        </p:nvSpPr>
        <p:spPr>
          <a:xfrm>
            <a:off x="1129361" y="1706985"/>
            <a:ext cx="9603300" cy="45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Encapsulation is the process of binding data (variables) and methods together into a single unit (class).</a:t>
            </a:r>
          </a:p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hiding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Improved security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Controlled access using </a:t>
            </a:r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getters and setters </a:t>
            </a:r>
          </a:p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Bank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Account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Account balance is private.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Access is provided through deposit() and withdraw() methods.</a:t>
            </a:r>
          </a:p>
          <a:p>
            <a:pPr marL="228600" lvl="0" indent="-17081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933994" y="1266092"/>
            <a:ext cx="10515600" cy="41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2800"/>
            </a:pPr>
            <a:r>
              <a:rPr lang="en-IN" sz="27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/>
            </a:r>
            <a:br>
              <a:rPr lang="en-US" sz="2400" dirty="0">
                <a:latin typeface="Cambria"/>
                <a:ea typeface="Cambria"/>
                <a:cs typeface="Cambria"/>
                <a:sym typeface="Cambria"/>
              </a:rPr>
            </a:b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80160" y="2197894"/>
            <a:ext cx="94869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private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age;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void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setAge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age)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this.age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age;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getAge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return age;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>
            <a:spLocks noGrp="1"/>
          </p:cNvSpPr>
          <p:nvPr>
            <p:ph type="title"/>
          </p:nvPr>
        </p:nvSpPr>
        <p:spPr>
          <a:xfrm>
            <a:off x="838200" y="1055077"/>
            <a:ext cx="10515600" cy="63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65" name="Google Shape;16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Inheritance allows one class to acquire properties and methods of another class.</a:t>
            </a:r>
          </a:p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Code reusability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Reduces duplication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Creates parent-child relationship </a:t>
            </a:r>
          </a:p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Vehicle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→ Car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Vehicle has common properties.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Car inherits those properties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>
            <a:spLocks noGrp="1"/>
          </p:cNvSpPr>
          <p:nvPr>
            <p:ph type="title"/>
          </p:nvPr>
        </p:nvSpPr>
        <p:spPr>
          <a:xfrm>
            <a:off x="838200" y="1463040"/>
            <a:ext cx="7361495" cy="36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72" name="Google Shape;17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Vehicle {</a:t>
            </a:r>
          </a:p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void start() {</a:t>
            </a:r>
          </a:p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("Vehicle Started");</a:t>
            </a:r>
          </a:p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marL="1143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Car extends Vehicle {</a:t>
            </a:r>
          </a:p>
          <a:p>
            <a:pPr marL="1143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82" y="272735"/>
            <a:ext cx="10818055" cy="6573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57299" y="1767007"/>
            <a:ext cx="984210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Polymorphism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means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"Many Forms"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same method can perform different actions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Compile-Time Polymorphism (Method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Overloading OR Early Binding)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Run-Time Polymorphism (Method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Overriding  OR Late Binding)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Smartphone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One device performs multiple 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Calling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Music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220" y="1194641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Polymorphism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>
            <a:spLocks noGrp="1"/>
          </p:cNvSpPr>
          <p:nvPr>
            <p:ph type="title"/>
          </p:nvPr>
        </p:nvSpPr>
        <p:spPr>
          <a:xfrm>
            <a:off x="1047410" y="1196286"/>
            <a:ext cx="100878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7410" y="2413338"/>
            <a:ext cx="80965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MathOperation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return a + b;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add(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return a + b + c;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title"/>
          </p:nvPr>
        </p:nvSpPr>
        <p:spPr>
          <a:xfrm>
            <a:off x="838200" y="1069145"/>
            <a:ext cx="10515600" cy="5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Abstraction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874729"/>
            <a:ext cx="8305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Abstraction hides implementation details and shows only essential information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Reduces complexity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Focuses on what an object does instead of how it does it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Example</a:t>
            </a:r>
          </a:p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Car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Driving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Driver uses: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Brake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Accelerator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internal engine mechanism is hidden.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title"/>
          </p:nvPr>
        </p:nvSpPr>
        <p:spPr>
          <a:xfrm>
            <a:off x="735623" y="891543"/>
            <a:ext cx="10515600" cy="5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5623" y="1887558"/>
            <a:ext cx="840837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 class Vehicle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abstract void start();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Car extends Vehicle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void start()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("Car Started");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838200" y="1139484"/>
            <a:ext cx="10515600" cy="57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History of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1767007"/>
            <a:ext cx="10515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a high-level, object-oriented, platform-independent programming language.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Developed to create software that can run on different devices and operating systems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Why Was Java Developed?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languages were platform-dependent.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Need for a language that could run on multiple platforms.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Based on the concept: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"Write Once, Run Anywhere (WORA)"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programs can run on any system with a Java Virtual Machine (JVM).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Who Developed Java?</a:t>
            </a:r>
          </a:p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James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Gosling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(Father of Java)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Developed at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Sun Microsystems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Mike Sheridan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Patrick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Naughton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>
            <a:spLocks noGrp="1"/>
          </p:cNvSpPr>
          <p:nvPr>
            <p:ph type="title"/>
          </p:nvPr>
        </p:nvSpPr>
        <p:spPr>
          <a:xfrm>
            <a:off x="986118" y="1059873"/>
            <a:ext cx="5419500" cy="75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Java Versions and Evolution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524529"/>
              </p:ext>
            </p:extLst>
          </p:nvPr>
        </p:nvGraphicFramePr>
        <p:xfrm>
          <a:off x="986118" y="1948320"/>
          <a:ext cx="10515600" cy="30784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74386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845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Year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Event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71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1991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Project Green started</a:t>
                      </a:r>
                      <a:endParaRPr lang="en-IN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28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1991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Language named Oak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10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1995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Renamed to Java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931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1996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Java 1.0 released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273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2010</a:t>
                      </a:r>
                      <a:endParaRPr lang="en-IN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Sun Microsystems acquired by Oracle</a:t>
                      </a:r>
                      <a:endParaRPr lang="en-US" sz="2000" b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76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16</a:t>
                      </a:r>
                      <a:r>
                        <a:rPr lang="en-IN" sz="2000" baseline="30000" dirty="0" smtClean="0"/>
                        <a:t>th</a:t>
                      </a:r>
                      <a:r>
                        <a:rPr lang="en-IN" sz="2000" dirty="0" smtClean="0"/>
                        <a:t> Sept 2025</a:t>
                      </a:r>
                      <a:endParaRPr lang="en-IN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Java 25 (</a:t>
                      </a:r>
                      <a:r>
                        <a:rPr lang="fr-FR" sz="2000" dirty="0" err="1"/>
                        <a:t>Latest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smtClean="0"/>
                        <a:t>[LTS] </a:t>
                      </a:r>
                      <a:r>
                        <a:rPr lang="en-IN" sz="2000" dirty="0" smtClean="0"/>
                        <a:t>Long-Term Support</a:t>
                      </a:r>
                      <a:r>
                        <a:rPr lang="fr-FR" sz="2000" dirty="0" smtClean="0"/>
                        <a:t>Version</a:t>
                      </a:r>
                      <a:r>
                        <a:rPr lang="fr-FR" sz="2000" dirty="0"/>
                        <a:t>)</a:t>
                      </a:r>
                      <a:endParaRPr lang="fr-FR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300369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>
            <a:spLocks noGrp="1"/>
          </p:cNvSpPr>
          <p:nvPr>
            <p:ph type="title"/>
          </p:nvPr>
        </p:nvSpPr>
        <p:spPr>
          <a:xfrm>
            <a:off x="636459" y="832774"/>
            <a:ext cx="10515600" cy="53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5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380810"/>
            <a:ext cx="10058400" cy="53247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>
            <a:spLocks noGrp="1"/>
          </p:cNvSpPr>
          <p:nvPr>
            <p:ph type="title"/>
          </p:nvPr>
        </p:nvSpPr>
        <p:spPr>
          <a:xfrm>
            <a:off x="647114" y="972264"/>
            <a:ext cx="86034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313055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6300" y="2067401"/>
            <a:ext cx="83742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has a simple and easy-to-learn syntax.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Similar to C and C++ but removes complex features like pointers and operator overloading.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Easy for beginners to understand and use.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Faster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learning and development</a:t>
            </a:r>
            <a:r>
              <a:rPr lang="en-US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>
            <a:spLocks noGrp="1"/>
          </p:cNvSpPr>
          <p:nvPr>
            <p:ph type="title"/>
          </p:nvPr>
        </p:nvSpPr>
        <p:spPr>
          <a:xfrm>
            <a:off x="859964" y="1008750"/>
            <a:ext cx="9603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19063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59964" y="1787757"/>
            <a:ext cx="82840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2. Object-Oriented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based on classes and objects.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Encapsulation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Inheritance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Polymorphism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Abstraction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Better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code organization and reusability.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Real-world entities like Student, Car, and Bank Account can be modeled as objects.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>
            <a:spLocks noGrp="1"/>
          </p:cNvSpPr>
          <p:nvPr>
            <p:ph type="title"/>
          </p:nvPr>
        </p:nvSpPr>
        <p:spPr>
          <a:xfrm>
            <a:off x="781663" y="804087"/>
            <a:ext cx="9681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noAutofit/>
          </a:bodyPr>
          <a:lstStyle/>
          <a:p>
            <a:pPr marL="1799589" marR="5080" lvl="0" indent="-1787525">
              <a:lnSpc>
                <a:spcPct val="15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5623" y="1880979"/>
            <a:ext cx="85812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Platform Independent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follows the principle: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"Write Once, Run Anywhere (WORA)"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source code is converted into Bytecode.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Bytecode runs on any system with a JVM.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Same program works on Windows, Linux, and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macOS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without modification.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>
            <a:spLocks noGrp="1"/>
          </p:cNvSpPr>
          <p:nvPr>
            <p:ph type="title"/>
          </p:nvPr>
        </p:nvSpPr>
        <p:spPr>
          <a:xfrm>
            <a:off x="900269" y="1059873"/>
            <a:ext cx="9588000" cy="72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spAutoFit/>
          </a:bodyPr>
          <a:lstStyle/>
          <a:p>
            <a:pPr marL="749300" marR="5080" lvl="0" indent="-737235">
              <a:lnSpc>
                <a:spcPct val="1875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00269" y="2122736"/>
            <a:ext cx="824373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4. Secure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provides built-in security features.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 direct memory access through pointers.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JVM checks code before execution.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Security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Bytecode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Class Loader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Security Manager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Protection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malicious code and viruses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>
            <a:spLocks noGrp="1"/>
          </p:cNvSpPr>
          <p:nvPr>
            <p:ph type="title"/>
          </p:nvPr>
        </p:nvSpPr>
        <p:spPr>
          <a:xfrm>
            <a:off x="1206108" y="1287101"/>
            <a:ext cx="96309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lvl="0">
              <a:lnSpc>
                <a:spcPct val="188035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06108" y="2263021"/>
            <a:ext cx="79378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 Robust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designed to minimize errors.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Strong memory management.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Automatic Garbage Collection.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Exception Handling mechanism.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Reliable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stable applications.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511712" y="684298"/>
            <a:ext cx="8870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noAutofit/>
          </a:bodyPr>
          <a:lstStyle/>
          <a:p>
            <a:pPr marL="1449070" marR="5080" lvl="0" indent="-1437005">
              <a:lnSpc>
                <a:spcPct val="1875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3895" y="1861498"/>
            <a:ext cx="863228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6. Portable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programs can be moved easily between platforms.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Consistent data types across all systems.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Easy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software migration.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895" y="3709563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7. Architecture Neutral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Bytecode is not dependent on processor architecture.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Works on any hardware architecture.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Hardware-independent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execution.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>
            <a:spLocks noGrp="1"/>
          </p:cNvSpPr>
          <p:nvPr>
            <p:ph type="title"/>
          </p:nvPr>
        </p:nvSpPr>
        <p:spPr>
          <a:xfrm>
            <a:off x="983638" y="788801"/>
            <a:ext cx="9651000" cy="72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spAutoFit/>
          </a:bodyPr>
          <a:lstStyle/>
          <a:p>
            <a:pPr marL="60325" marR="5080" lvl="0" indent="-60325">
              <a:lnSpc>
                <a:spcPct val="1875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83638" y="175268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8. High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uses Just-In-Time (JIT) Compiler.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Frequently used code is converted into machine code. </a:t>
            </a:r>
          </a:p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Faster execution compared to traditional interpreted languages.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3638" y="3931712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9. Multithreaded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supports multiple threads running simultaneously.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Allows execution of multiple tasks at the same time.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Downloading a file while browsing a webpage.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Better CPU utilization and performance.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>
            <a:spLocks noGrp="1"/>
          </p:cNvSpPr>
          <p:nvPr>
            <p:ph type="title"/>
          </p:nvPr>
        </p:nvSpPr>
        <p:spPr>
          <a:xfrm>
            <a:off x="394447" y="1059873"/>
            <a:ext cx="9611100" cy="38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ctr" anchorCtr="0">
            <a:spAutoFit/>
          </a:bodyPr>
          <a:lstStyle/>
          <a:p>
            <a:pPr marL="12700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4447" y="1811022"/>
            <a:ext cx="874955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Distributed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supports distributed applications.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networking APIs for communication between systems.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Client-Server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Web Applications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Easy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development of network-based applications.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>
            <a:spLocks noGrp="1"/>
          </p:cNvSpPr>
          <p:nvPr>
            <p:ph type="title"/>
          </p:nvPr>
        </p:nvSpPr>
        <p:spPr>
          <a:xfrm>
            <a:off x="642222" y="821070"/>
            <a:ext cx="9745800" cy="72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spAutoFit/>
          </a:bodyPr>
          <a:lstStyle/>
          <a:p>
            <a:pPr marR="5080" lvl="0">
              <a:lnSpc>
                <a:spcPct val="1875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Features of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3648" y="1746945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11. Dynamic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can load classes dynamically during runtime.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Supports runtime linking.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Benefit:</a:t>
            </a:r>
          </a:p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Greater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flexibility and adaptability.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63648" y="3693944"/>
            <a:ext cx="98299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12. Compiled and Interpreted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is both a Compiled and an Interpreted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Java Compiler (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converts source code (.java) into Bytecode (.class).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Java Virtual Machine (JVM) interprets or JIT-compiles the Bytecode and executes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approach provides platform independence and better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>
            <a:spLocks noGrp="1"/>
          </p:cNvSpPr>
          <p:nvPr>
            <p:ph type="title"/>
          </p:nvPr>
        </p:nvSpPr>
        <p:spPr>
          <a:xfrm>
            <a:off x="339957" y="1079840"/>
            <a:ext cx="80145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60325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JVM Architecture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385" y="2070478"/>
            <a:ext cx="4982270" cy="3677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0;p31"/>
          <p:cNvSpPr txBox="1">
            <a:spLocks noGrp="1"/>
          </p:cNvSpPr>
          <p:nvPr>
            <p:ph type="title"/>
          </p:nvPr>
        </p:nvSpPr>
        <p:spPr>
          <a:xfrm>
            <a:off x="568672" y="1045326"/>
            <a:ext cx="80145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60325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JVM Architecture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8672" y="2037547"/>
            <a:ext cx="105641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Java Runtime System is responsible for executing Java applications. It consists of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Class Loader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Runtime Memory Areas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Execution Engine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Native Method Interface (JNI)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Together, these components enable Java's platform-independent execution.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68672" y="3339108"/>
            <a:ext cx="754565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Class Loader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Loads Java class files (.class) into memory.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Dynamically loads classes when they are required.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Performs: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Loading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Reads class files.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Linking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Verifies and prepares classes.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Assigns values to static variables.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Acts as the bridge between compiled Java code and JVM execution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0;p31"/>
          <p:cNvSpPr txBox="1">
            <a:spLocks noGrp="1"/>
          </p:cNvSpPr>
          <p:nvPr>
            <p:ph type="title"/>
          </p:nvPr>
        </p:nvSpPr>
        <p:spPr>
          <a:xfrm>
            <a:off x="521677" y="837269"/>
            <a:ext cx="80145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60325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JVM Architecture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1677" y="1313633"/>
            <a:ext cx="115243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2. JVM Memory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Areas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70340"/>
            <a:ext cx="4403188" cy="89200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488177" y="25347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Class Area (Method Area)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Stores class metadata, method information, and static variables.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Shared among all threads.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6697998" y="1975352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Heap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Stores objects and instance variables.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Largest memory area in JVM.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Managed by the Garbage Collector.</a:t>
            </a:r>
            <a:endParaRPr lang="en-IN" sz="2000" dirty="0"/>
          </a:p>
        </p:txBody>
      </p:sp>
      <p:sp>
        <p:nvSpPr>
          <p:cNvPr id="11" name="Rectangle 10"/>
          <p:cNvSpPr/>
          <p:nvPr/>
        </p:nvSpPr>
        <p:spPr>
          <a:xfrm>
            <a:off x="984738" y="239092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Stack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Stores method calls, local variables, and partial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Each thread has its own stack.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Memory is released automatically after method execution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52" y="492752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Program Counter (PC) Register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Keeps track of the current instruction being executed.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Each thread has its own PC register.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3868" y="400821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Native Method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Supports execution of native methods written in languages like C or C++.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Works through JNI (Java Native Interface).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47726" y="5207099"/>
            <a:ext cx="564484" cy="2491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ight Arrow 18"/>
          <p:cNvSpPr/>
          <p:nvPr/>
        </p:nvSpPr>
        <p:spPr>
          <a:xfrm>
            <a:off x="4674602" y="375663"/>
            <a:ext cx="703384" cy="2323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6285914" y="2349304"/>
            <a:ext cx="564484" cy="176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5639099" y="4084610"/>
            <a:ext cx="564484" cy="2491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>
            <a:off x="259684" y="2450395"/>
            <a:ext cx="564484" cy="2491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0;p31"/>
          <p:cNvSpPr txBox="1">
            <a:spLocks/>
          </p:cNvSpPr>
          <p:nvPr/>
        </p:nvSpPr>
        <p:spPr>
          <a:xfrm>
            <a:off x="735623" y="1055733"/>
            <a:ext cx="80145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325">
              <a:lnSpc>
                <a:spcPct val="100000"/>
              </a:lnSpc>
              <a:buSzPts val="28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JVM Architecture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3384" y="1972419"/>
            <a:ext cx="1010939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Execution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Executes the bytecode loaded into memory.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Components: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Interpreter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Executes bytecode line by line.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JIT (Just-In-Time) Compiler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Converts frequently used bytecode into machine code for faster execution.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Garbage Collector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Removes unused objects and frees memory.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0;p31"/>
          <p:cNvSpPr txBox="1">
            <a:spLocks noGrp="1"/>
          </p:cNvSpPr>
          <p:nvPr>
            <p:ph type="title"/>
          </p:nvPr>
        </p:nvSpPr>
        <p:spPr>
          <a:xfrm>
            <a:off x="339957" y="1079840"/>
            <a:ext cx="80145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60325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JVM Architecture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9956" y="1900387"/>
            <a:ext cx="1121930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4. Native Method Interface (JNI)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Allows Java applications to interact with native code.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communication between Java and external libraries.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when platform-specific functionality is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56" y="3960403"/>
            <a:ext cx="118520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 Java Native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Libraries written in languages such as C/C++.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Accessed through JNI.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Enable integration with operating system features and hardware resources.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0;p31"/>
          <p:cNvSpPr txBox="1">
            <a:spLocks noGrp="1"/>
          </p:cNvSpPr>
          <p:nvPr>
            <p:ph type="title"/>
          </p:nvPr>
        </p:nvSpPr>
        <p:spPr>
          <a:xfrm>
            <a:off x="339957" y="1079840"/>
            <a:ext cx="80145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60325" lvl="0">
              <a:lnSpc>
                <a:spcPct val="100000"/>
              </a:lnSpc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JVM Architecture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784074"/>
            <a:ext cx="10058400" cy="45938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>
            <a:spLocks noGrp="1"/>
          </p:cNvSpPr>
          <p:nvPr>
            <p:ph type="title"/>
          </p:nvPr>
        </p:nvSpPr>
        <p:spPr>
          <a:xfrm>
            <a:off x="1004047" y="788500"/>
            <a:ext cx="9826800" cy="72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spAutoFit/>
          </a:bodyPr>
          <a:lstStyle/>
          <a:p>
            <a:pPr marL="1054100" marR="5080" lvl="0" indent="-1042035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lang="en-IN" sz="2400" b="1" dirty="0" smtClean="0">
                <a:latin typeface="Cambria"/>
                <a:ea typeface="Cambria"/>
                <a:cs typeface="Cambria"/>
                <a:sym typeface="Cambria"/>
              </a:rPr>
              <a:t>JRE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00100" y="1778540"/>
            <a:ext cx="1053839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JRE?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Runtime Environment (JRE)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JRE stands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Runtime Environment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provides the environment required to run Java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Contains: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JVM (Java Virtual Machine)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Core Java Libraries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Supporting Files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Does not include development tools like compiler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Formula: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JRE = JVM + Java Libraries + Supporting Files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>
            <a:spLocks noGrp="1"/>
          </p:cNvSpPr>
          <p:nvPr>
            <p:ph type="title"/>
          </p:nvPr>
        </p:nvSpPr>
        <p:spPr>
          <a:xfrm>
            <a:off x="1362579" y="1108453"/>
            <a:ext cx="9591300" cy="72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spAutoFit/>
          </a:bodyPr>
          <a:lstStyle/>
          <a:p>
            <a:pPr marR="5080" lvl="0">
              <a:lnSpc>
                <a:spcPct val="187500"/>
              </a:lnSpc>
              <a:buSzPts val="28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JRE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356" y="2648469"/>
            <a:ext cx="6606540" cy="3376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3980579" y="1678406"/>
            <a:ext cx="36936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1C28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does JRE work with JVM?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>
            <a:spLocks noGrp="1"/>
          </p:cNvSpPr>
          <p:nvPr>
            <p:ph type="title"/>
          </p:nvPr>
        </p:nvSpPr>
        <p:spPr>
          <a:xfrm>
            <a:off x="858758" y="1263720"/>
            <a:ext cx="9670800" cy="46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200" rIns="0" bIns="0" anchor="ctr" anchorCtr="0">
            <a:spAutoFit/>
          </a:bodyPr>
          <a:lstStyle/>
          <a:p>
            <a:pPr marL="60325" marR="5080" lvl="0" indent="-47625">
              <a:lnSpc>
                <a:spcPct val="119318"/>
              </a:lnSpc>
              <a:buSzPts val="28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JRE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0579" y="1678406"/>
            <a:ext cx="36936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1C28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does JRE work with JVM?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8237" y="2147370"/>
            <a:ext cx="1187376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Relationship Between JRE and JVM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JRE (Java Runtime Environment)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provides the complete environment required to run Java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JVM (Java Virtual Machine)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component inside the JRE responsible for executing Java bytecode.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JRE supplies the JVM with: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Class Libraries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Runtime Resources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Configuration Files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Simple 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JRE = JVM + Java Libraries + Supporting Files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207" y="3732419"/>
            <a:ext cx="2145433" cy="28246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>
            <a:spLocks noGrp="1"/>
          </p:cNvSpPr>
          <p:nvPr>
            <p:ph type="title"/>
          </p:nvPr>
        </p:nvSpPr>
        <p:spPr>
          <a:xfrm>
            <a:off x="806824" y="771850"/>
            <a:ext cx="9794966" cy="91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JDK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23944" y="1945988"/>
            <a:ext cx="983314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Development Kit (JDK)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JDK stands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Development Kit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a software package used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develop, compile, debug, and run Java applications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Provides all the tools required for Java development.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Developed and maintained by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Oracle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JDK = JRE + Development Tools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>
            <a:spLocks noGrp="1"/>
          </p:cNvSpPr>
          <p:nvPr>
            <p:ph type="title"/>
          </p:nvPr>
        </p:nvSpPr>
        <p:spPr>
          <a:xfrm>
            <a:off x="382737" y="893331"/>
            <a:ext cx="10515600" cy="7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2400" b="1" dirty="0" smtClean="0"/>
              <a:t>JDK</a:t>
            </a:r>
            <a:endParaRPr lang="en-IN" sz="2400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2737" y="1513975"/>
            <a:ext cx="9355623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Main Components of JDK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JVM (Java Virtual Machine)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Executes Java bytecode.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Provides platform independence.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JRE (Java Runtime Environment)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Runtime environment for Java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Contains JVM and Java libraries.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Development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Compiler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Launcher (java)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Debugger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jdb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Documentation Generator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javadoc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Archiver (jar)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83;p42"/>
          <p:cNvSpPr txBox="1">
            <a:spLocks noGrp="1"/>
          </p:cNvSpPr>
          <p:nvPr>
            <p:ph type="title"/>
          </p:nvPr>
        </p:nvSpPr>
        <p:spPr>
          <a:xfrm>
            <a:off x="382737" y="893331"/>
            <a:ext cx="10515600" cy="72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2400" b="1" dirty="0" smtClean="0"/>
              <a:t>JDK</a:t>
            </a:r>
            <a:endParaRPr lang="en-IN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969476"/>
            <a:ext cx="10058400" cy="46564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529" y="956603"/>
            <a:ext cx="8975188" cy="5690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"/>
          <p:cNvSpPr txBox="1">
            <a:spLocks noGrp="1"/>
          </p:cNvSpPr>
          <p:nvPr>
            <p:ph type="title"/>
          </p:nvPr>
        </p:nvSpPr>
        <p:spPr>
          <a:xfrm>
            <a:off x="838200" y="1139483"/>
            <a:ext cx="10515600" cy="5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lang="en-US" sz="2400" b="1" smtClean="0">
                <a:latin typeface="Cambria"/>
                <a:ea typeface="Cambria"/>
                <a:sym typeface="Cambria"/>
              </a:rPr>
              <a:t>Compilation &amp; Execution Process</a:t>
            </a:r>
            <a:endParaRPr sz="2400" dirty="0"/>
          </a:p>
        </p:txBody>
      </p:sp>
      <p:sp>
        <p:nvSpPr>
          <p:cNvPr id="3" name="Rectangle 2"/>
          <p:cNvSpPr/>
          <p:nvPr/>
        </p:nvSpPr>
        <p:spPr>
          <a:xfrm>
            <a:off x="838200" y="2295585"/>
            <a:ext cx="986028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What is Java Compilation and Execution?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is a platform-independent programming language.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follows the principle: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"Write Once, Run Anywhere (WORA)"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Source code is converted into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Bytecode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which can run on any system having a Java Virtual Machine (JVM).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59872"/>
            <a:ext cx="10058400" cy="5645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"/>
          <p:cNvSpPr txBox="1">
            <a:spLocks noGrp="1"/>
          </p:cNvSpPr>
          <p:nvPr>
            <p:ph type="title"/>
          </p:nvPr>
        </p:nvSpPr>
        <p:spPr>
          <a:xfrm>
            <a:off x="731521" y="805627"/>
            <a:ext cx="85923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</a:t>
            </a: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&amp; Execution </a:t>
            </a: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Process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31521" y="1793516"/>
            <a:ext cx="1037844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Writing Source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Source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Programmer writes code in a text editor or IDE.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File extension: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.java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 Hello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static void main(String[]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("Hello World");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19;p47"/>
          <p:cNvSpPr txBox="1">
            <a:spLocks noGrp="1"/>
          </p:cNvSpPr>
          <p:nvPr>
            <p:ph type="title"/>
          </p:nvPr>
        </p:nvSpPr>
        <p:spPr>
          <a:xfrm>
            <a:off x="647114" y="1097280"/>
            <a:ext cx="85923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</a:t>
            </a: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&amp; Execution </a:t>
            </a: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Process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5623" y="1966080"/>
            <a:ext cx="9894277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Compilation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Compiler (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Java Compiler translates source code into bytecode.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Command: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Hello.java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Hello.class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Functions of Compiler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 checking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Error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Bytecode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19;p47"/>
          <p:cNvSpPr txBox="1">
            <a:spLocks/>
          </p:cNvSpPr>
          <p:nvPr/>
        </p:nvSpPr>
        <p:spPr>
          <a:xfrm>
            <a:off x="647114" y="1097280"/>
            <a:ext cx="85923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7114" y="1966080"/>
            <a:ext cx="10371406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Bytecode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Bytecode?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Intermediate code generated by the compiler.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Stored in .class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Platform-independent.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Can run on any system with JVM.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Portability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Easy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19;p47"/>
          <p:cNvSpPr txBox="1">
            <a:spLocks/>
          </p:cNvSpPr>
          <p:nvPr/>
        </p:nvSpPr>
        <p:spPr>
          <a:xfrm>
            <a:off x="647114" y="1097280"/>
            <a:ext cx="85923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114" y="2328476"/>
            <a:ext cx="904552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JVM (Java Virtual Machine)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Role of JVM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Executes Java Bytecode.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Converts bytecode into machine-specific instructions.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platform independence. 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JVM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Loader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Bytecode Verifier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Runtime Memory Areas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Execution Engine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7114" y="2034657"/>
            <a:ext cx="859230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 Loader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 Loader Subsystem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Loads .class files into memory.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Dynamically loads classes when needed.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Responsibilities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Loading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Linking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Google Shape;419;p47"/>
          <p:cNvSpPr txBox="1">
            <a:spLocks/>
          </p:cNvSpPr>
          <p:nvPr/>
        </p:nvSpPr>
        <p:spPr>
          <a:xfrm>
            <a:off x="580292" y="1120143"/>
            <a:ext cx="85923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Google Shape;419;p47"/>
          <p:cNvSpPr txBox="1">
            <a:spLocks/>
          </p:cNvSpPr>
          <p:nvPr/>
        </p:nvSpPr>
        <p:spPr>
          <a:xfrm>
            <a:off x="580292" y="1143000"/>
            <a:ext cx="85923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>
            <a:spLocks noGrp="1"/>
          </p:cNvSpPr>
          <p:nvPr>
            <p:ph type="body" idx="1"/>
          </p:nvPr>
        </p:nvSpPr>
        <p:spPr>
          <a:xfrm>
            <a:off x="838200" y="1719263"/>
            <a:ext cx="93018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Bytecode Verification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Bytecode Verifier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Checks bytecode before execution.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Ensures: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Code safety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Memory access correctness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 illegal operations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security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Prevents malicious code execution</a:t>
            </a:r>
          </a:p>
        </p:txBody>
      </p:sp>
      <p:sp>
        <p:nvSpPr>
          <p:cNvPr id="5" name="Google Shape;419;p47"/>
          <p:cNvSpPr txBox="1">
            <a:spLocks noGrp="1"/>
          </p:cNvSpPr>
          <p:nvPr>
            <p:ph type="title"/>
          </p:nvPr>
        </p:nvSpPr>
        <p:spPr>
          <a:xfrm>
            <a:off x="838200" y="1162685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Execution Engine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Execution Engine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Responsible for executing bytecode.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Components: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Interpreter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Executes bytecode line by line.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Slower execution.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JIT (Just-In-Time) Compiler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Converts bytecode into machine code. 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performance.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419;p47"/>
          <p:cNvSpPr txBox="1">
            <a:spLocks/>
          </p:cNvSpPr>
          <p:nvPr/>
        </p:nvSpPr>
        <p:spPr>
          <a:xfrm>
            <a:off x="743536" y="1028703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Runtime Memory Areas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JVM Memory Structure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Method Area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Heap Memory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Stack Memory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PC Register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Native Method Stack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Purpose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Stores classes, objects, variables, and execution information.</a:t>
            </a:r>
          </a:p>
        </p:txBody>
      </p:sp>
      <p:sp>
        <p:nvSpPr>
          <p:cNvPr id="6" name="Google Shape;419;p47"/>
          <p:cNvSpPr txBox="1">
            <a:spLocks/>
          </p:cNvSpPr>
          <p:nvPr/>
        </p:nvSpPr>
        <p:spPr>
          <a:xfrm>
            <a:off x="838200" y="1028703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19;p47"/>
          <p:cNvSpPr txBox="1">
            <a:spLocks/>
          </p:cNvSpPr>
          <p:nvPr/>
        </p:nvSpPr>
        <p:spPr>
          <a:xfrm>
            <a:off x="838200" y="1028703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60134"/>
            <a:ext cx="69570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Execution Process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Hello.java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Run: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Hello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Hello 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of Java Compilation Process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Platform Independence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Enhanced Security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Better Performance with JIT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Automatic Memory Management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Robust Error Checking</a:t>
            </a: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419;p47"/>
          <p:cNvSpPr txBox="1">
            <a:spLocks noGrp="1"/>
          </p:cNvSpPr>
          <p:nvPr>
            <p:ph type="title"/>
          </p:nvPr>
        </p:nvSpPr>
        <p:spPr>
          <a:xfrm>
            <a:off x="838200" y="8286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Compilation &amp; Execution Process</a:t>
            </a:r>
            <a:endParaRPr lang="en-US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>
            <a:spLocks noGrp="1"/>
          </p:cNvSpPr>
          <p:nvPr>
            <p:ph type="title"/>
          </p:nvPr>
        </p:nvSpPr>
        <p:spPr>
          <a:xfrm>
            <a:off x="838200" y="886265"/>
            <a:ext cx="10515600" cy="80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Java Environment Setup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3" name="Google Shape;493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b="1" dirty="0"/>
              <a:t>What is Java Environment Setup?</a:t>
            </a:r>
          </a:p>
          <a:p>
            <a:r>
              <a:rPr lang="en-IN" sz="2000" dirty="0"/>
              <a:t>Java Environment Setup is the process of installing and configuring Java tools required for developing and running Java applications.</a:t>
            </a:r>
          </a:p>
          <a:p>
            <a:r>
              <a:rPr lang="en-IN" sz="2000" b="1" dirty="0"/>
              <a:t>Components of Java</a:t>
            </a:r>
          </a:p>
          <a:p>
            <a:r>
              <a:rPr lang="en-IN" sz="2000" b="1" dirty="0"/>
              <a:t>JDK (Java Development Kit)</a:t>
            </a:r>
            <a:r>
              <a:rPr lang="en-IN" sz="2000" dirty="0"/>
              <a:t> – Development tools and compiler. </a:t>
            </a:r>
          </a:p>
          <a:p>
            <a:r>
              <a:rPr lang="en-IN" sz="2000" b="1" dirty="0"/>
              <a:t>JRE (Java Runtime Environment)</a:t>
            </a:r>
            <a:r>
              <a:rPr lang="en-IN" sz="2000" dirty="0"/>
              <a:t> – Runs Java applications. </a:t>
            </a:r>
          </a:p>
          <a:p>
            <a:r>
              <a:rPr lang="en-IN" sz="2000" b="1" dirty="0"/>
              <a:t>JVM (Java Virtual Machine)</a:t>
            </a:r>
            <a:r>
              <a:rPr lang="en-IN" sz="2000" dirty="0"/>
              <a:t> – Executes Java bytecode.</a:t>
            </a:r>
          </a:p>
          <a:p>
            <a:pPr marL="228600" lvl="0" indent="-101600">
              <a:buSzPts val="2000"/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Download 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JDK</a:t>
            </a:r>
          </a:p>
          <a:p>
            <a:pPr marL="228600" lvl="0" indent="-101600">
              <a:buSzPts val="2000"/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  <a:hlinkClick r:id="rId3"/>
              </a:rPr>
              <a:t>https://www.oracle.com/java/technologies/downloads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  <a:hlinkClick r:id="rId3"/>
              </a:rPr>
              <a:t>/</a:t>
            </a:r>
            <a:endParaRPr lang="en-IN" sz="2000" b="1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228600" lvl="0" indent="-101600">
              <a:buSzPts val="2000"/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  <a:hlinkClick r:id="rId4"/>
              </a:rPr>
              <a:t>https://openjdk.org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  <a:hlinkClick r:id="rId4"/>
              </a:rPr>
              <a:t>/</a:t>
            </a:r>
            <a:endParaRPr lang="en-IN" sz="2000" b="1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228600" lvl="0" indent="-101600">
              <a:buSzPts val="2000"/>
              <a:buNone/>
            </a:pPr>
            <a:endParaRPr sz="20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>
            <a:spLocks noGrp="1"/>
          </p:cNvSpPr>
          <p:nvPr>
            <p:ph type="title"/>
          </p:nvPr>
        </p:nvSpPr>
        <p:spPr>
          <a:xfrm>
            <a:off x="838200" y="886265"/>
            <a:ext cx="10515600" cy="80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Java Environment Setup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1411277"/>
            <a:ext cx="100888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JDK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Steps to Install JDK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Download JDK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Oracle JDK: www.oracle.com/java/technologies/downloads/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OpenJDK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www.openjdk.org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Install JDK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Run the installer.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Select installation directory.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Complete the installation process.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Verify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Open Command Prompt and type: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-version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-version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Successful installation displays the installed Java version.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4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92;p57"/>
          <p:cNvSpPr txBox="1">
            <a:spLocks/>
          </p:cNvSpPr>
          <p:nvPr/>
        </p:nvSpPr>
        <p:spPr>
          <a:xfrm>
            <a:off x="743536" y="1021202"/>
            <a:ext cx="10515600" cy="80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Environment Setup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43536" y="1825625"/>
            <a:ext cx="988636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Steps to Set Up Java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Install JDK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Download and install the latest JDK version.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Configure Environment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JAVA_HOME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the JDK installation directory.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%JAVA_HOME%\bin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the PATH variable.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Verify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-version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-version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8420" y="2043079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 and Run a Java Program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Compile: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javac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Hello.java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Hello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80292" y="1225689"/>
            <a:ext cx="102489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PATH and CLASSPATH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PATH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Specifies the location of Java executable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Allows Java commands to run from any directory.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C:\Program Files\Java\jdk-21\bin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CLASSPATH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Specifies the location of Java class files and libraries.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JVM locate required classes during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.;C:\Java\Libraries\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✔ Easy command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✔ Access to external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✔ Proper program execution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80292" y="1508760"/>
            <a:ext cx="10515600" cy="341948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292" y="2016591"/>
            <a:ext cx="112840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What is an IDE?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Integrated Development Environment (IDE)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provides tools for coding, debugging, compiling, and testing Java programs.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187152"/>
              </p:ext>
            </p:extLst>
          </p:nvPr>
        </p:nvGraphicFramePr>
        <p:xfrm>
          <a:off x="580292" y="3198137"/>
          <a:ext cx="10515600" cy="1981200"/>
        </p:xfrm>
        <a:graphic>
          <a:graphicData uri="http://schemas.openxmlformats.org/drawingml/2006/table">
            <a:tbl>
              <a:tblPr>
                <a:tableStyleId>{1770EBBE-02D0-4D45-A4C4-CDA86BBD5BD3}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301758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2648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IDE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Website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35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Eclipse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hlinkClick r:id="rId3"/>
                        </a:rPr>
                        <a:t>www.eclipse.org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474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IntelliJ IDEA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hlinkClick r:id="rId4"/>
                        </a:rPr>
                        <a:t>www.jetbrains.com/idea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9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Apache NetBeans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hlinkClick r:id="rId5"/>
                        </a:rPr>
                        <a:t>www.netbeans.apache.org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17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/>
                        <a:t>Visual Studio Code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hlinkClick r:id="rId6"/>
                        </a:rPr>
                        <a:t>www.code.visualstudio.com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193599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0"/>
          <p:cNvSpPr txBox="1">
            <a:spLocks noGrp="1"/>
          </p:cNvSpPr>
          <p:nvPr>
            <p:ph type="title"/>
          </p:nvPr>
        </p:nvSpPr>
        <p:spPr>
          <a:xfrm>
            <a:off x="838200" y="858129"/>
            <a:ext cx="10515600" cy="832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Introduction to IDE’s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5" name="Google Shape;515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of IDEs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Code Completion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Syntax Highlighting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Error Detection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Debugging Support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Project Management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40"/>
            <a:ext cx="5753685" cy="892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2896</Words>
  <Application>Microsoft Office PowerPoint</Application>
  <PresentationFormat>Widescreen</PresentationFormat>
  <Paragraphs>661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Arial Unicode MS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Outline</vt:lpstr>
      <vt:lpstr>Programming Paradigms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Main Features of OOP</vt:lpstr>
      <vt:lpstr>Encapsulation</vt:lpstr>
      <vt:lpstr>Example </vt:lpstr>
      <vt:lpstr>Inheritance</vt:lpstr>
      <vt:lpstr>Example</vt:lpstr>
      <vt:lpstr>PowerPoint Presentation</vt:lpstr>
      <vt:lpstr>Example</vt:lpstr>
      <vt:lpstr>Abstraction</vt:lpstr>
      <vt:lpstr>Example: </vt:lpstr>
      <vt:lpstr>History of Java</vt:lpstr>
      <vt:lpstr>Java Versions and Evolution</vt:lpstr>
      <vt:lpstr>Features of Java</vt:lpstr>
      <vt:lpstr>Features of Java</vt:lpstr>
      <vt:lpstr>Features of Java</vt:lpstr>
      <vt:lpstr>Features of Java</vt:lpstr>
      <vt:lpstr>Features of Java</vt:lpstr>
      <vt:lpstr>Features of Java</vt:lpstr>
      <vt:lpstr>Features of Java</vt:lpstr>
      <vt:lpstr>Features of Java</vt:lpstr>
      <vt:lpstr>Features of Java</vt:lpstr>
      <vt:lpstr>Features of Java</vt:lpstr>
      <vt:lpstr>JVM Architecture</vt:lpstr>
      <vt:lpstr>JVM Architecture</vt:lpstr>
      <vt:lpstr>JVM Architecture</vt:lpstr>
      <vt:lpstr>PowerPoint Presentation</vt:lpstr>
      <vt:lpstr>JVM Architecture</vt:lpstr>
      <vt:lpstr>JVM Architecture</vt:lpstr>
      <vt:lpstr>JRE</vt:lpstr>
      <vt:lpstr>JRE</vt:lpstr>
      <vt:lpstr>JRE</vt:lpstr>
      <vt:lpstr>JDK</vt:lpstr>
      <vt:lpstr>JDK</vt:lpstr>
      <vt:lpstr>JDK</vt:lpstr>
      <vt:lpstr>PowerPoint Presentation</vt:lpstr>
      <vt:lpstr>Compilation &amp; Execution Process</vt:lpstr>
      <vt:lpstr>PowerPoint Presentation</vt:lpstr>
      <vt:lpstr>Compilation &amp; Execution Process</vt:lpstr>
      <vt:lpstr>Compilation &amp; Execution Process</vt:lpstr>
      <vt:lpstr>PowerPoint Presentation</vt:lpstr>
      <vt:lpstr>PowerPoint Presentation</vt:lpstr>
      <vt:lpstr>PowerPoint Presentation</vt:lpstr>
      <vt:lpstr>Compilation &amp; Execution Process</vt:lpstr>
      <vt:lpstr>PowerPoint Presentation</vt:lpstr>
      <vt:lpstr>PowerPoint Presentation</vt:lpstr>
      <vt:lpstr>PowerPoint Presentation</vt:lpstr>
      <vt:lpstr>Compilation &amp; Execution Process</vt:lpstr>
      <vt:lpstr>Java Environment Setup</vt:lpstr>
      <vt:lpstr>Java Environment Setup</vt:lpstr>
      <vt:lpstr>PowerPoint Presentation</vt:lpstr>
      <vt:lpstr>PowerPoint Presentation</vt:lpstr>
      <vt:lpstr>Introduction to IDEs</vt:lpstr>
      <vt:lpstr>Introduction to IDE’s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MyLappy</cp:lastModifiedBy>
  <cp:revision>138</cp:revision>
  <dcterms:created xsi:type="dcterms:W3CDTF">2024-12-27T10:10:02Z</dcterms:created>
  <dcterms:modified xsi:type="dcterms:W3CDTF">2026-06-24T02:43:08Z</dcterms:modified>
</cp:coreProperties>
</file>