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332" r:id="rId5"/>
    <p:sldId id="343" r:id="rId6"/>
    <p:sldId id="344" r:id="rId7"/>
    <p:sldId id="333" r:id="rId8"/>
    <p:sldId id="346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2" r:id="rId17"/>
    <p:sldId id="345" r:id="rId18"/>
  </p:sldIdLst>
  <p:sldSz cx="12192000" cy="6858000"/>
  <p:notesSz cx="6858000" cy="9144000"/>
  <p:embeddedFontLs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Cambria" panose="02040503050406030204" pitchFamily="18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8" roundtripDataSignature="AMtx7mj+QiY8+tGDTQhqpku5UfwX1jy5I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584C3D5-BA56-4CB6-A2EC-A6B4E8D0C348}">
  <a:tblStyle styleId="{B584C3D5-BA56-4CB6-A2EC-A6B4E8D0C34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8" autoAdjust="0"/>
    <p:restoredTop sz="94259" autoAdjust="0"/>
  </p:normalViewPr>
  <p:slideViewPr>
    <p:cSldViewPr snapToGrid="0">
      <p:cViewPr varScale="1">
        <p:scale>
          <a:sx n="68" d="100"/>
          <a:sy n="68" d="100"/>
        </p:scale>
        <p:origin x="792" y="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80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79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82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78" Type="http://customschemas.google.com/relationships/presentationmetadata" Target="metadata"/><Relationship Id="rId8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85745750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9857457505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g39857457505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2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52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5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5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55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55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5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5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5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56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5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5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5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57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57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8" name="Google Shape;48;p57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57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0" name="Google Shape;50;p57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5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5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5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5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5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59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59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59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5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5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60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60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60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6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6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6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6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61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6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6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6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62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62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6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6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6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5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5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5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5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5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3"/>
          <p:cNvSpPr/>
          <p:nvPr/>
        </p:nvSpPr>
        <p:spPr>
          <a:xfrm>
            <a:off x="1431607" y="2625077"/>
            <a:ext cx="9702017" cy="918223"/>
          </a:xfrm>
          <a:custGeom>
            <a:avLst/>
            <a:gdLst/>
            <a:ahLst/>
            <a:cxnLst/>
            <a:rect l="l" t="t" r="r" b="b"/>
            <a:pathLst>
              <a:path w="7556500" h="2628900">
                <a:moveTo>
                  <a:pt x="0" y="2628900"/>
                </a:moveTo>
                <a:lnTo>
                  <a:pt x="0" y="0"/>
                </a:lnTo>
                <a:lnTo>
                  <a:pt x="7556500" y="0"/>
                </a:lnTo>
                <a:lnTo>
                  <a:pt x="7556500" y="2628900"/>
                </a:lnTo>
                <a:lnTo>
                  <a:pt x="0" y="2628900"/>
                </a:lnTo>
                <a:close/>
              </a:path>
            </a:pathLst>
          </a:custGeom>
          <a:solidFill>
            <a:srgbClr val="1F487C"/>
          </a:solidFill>
        </p:spPr>
        <p:txBody>
          <a:bodyPr wrap="square" lIns="0" tIns="0" rIns="0" bIns="0" rtlCol="0"/>
          <a:lstStyle/>
          <a:p>
            <a:pPr lvl="0" algn="ctr">
              <a:lnSpc>
                <a:spcPct val="90000"/>
              </a:lnSpc>
              <a:buClr>
                <a:schemeClr val="dk1"/>
              </a:buClr>
              <a:buSzPts val="2400"/>
            </a:pPr>
            <a:r>
              <a:rPr lang="en-IN" sz="40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Language </a:t>
            </a:r>
            <a:r>
              <a:rPr lang="en-IN" sz="4000" b="1" dirty="0" smtClean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Basics </a:t>
            </a:r>
            <a:endParaRPr lang="en-US" sz="4000" b="1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  <a:cs typeface="Cambria"/>
              <a:sym typeface="Cambria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42741" y="5601409"/>
            <a:ext cx="383282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7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Mr. </a:t>
            </a:r>
            <a:r>
              <a:rPr lang="en-US" sz="2700" b="1" dirty="0" err="1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Nilesh</a:t>
            </a:r>
            <a:r>
              <a:rPr lang="en-US" sz="27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B. </a:t>
            </a:r>
            <a:r>
              <a:rPr lang="en-US" sz="2700" b="1" dirty="0" err="1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Ghavate</a:t>
            </a:r>
            <a:r>
              <a:rPr lang="en-US" sz="27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</a:t>
            </a:r>
            <a:r>
              <a:rPr lang="en-US" sz="1058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/>
            </a:r>
            <a:br>
              <a:rPr lang="en-US" sz="1058" b="1" dirty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</a:b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Technical Trainer</a:t>
            </a:r>
          </a:p>
          <a:p>
            <a:r>
              <a:rPr lang="en-US" b="1" dirty="0" err="1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B.Tech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  CSE AIDS </a:t>
            </a:r>
            <a:r>
              <a:rPr lang="en-US" sz="1500" b="1" dirty="0" smtClean="0">
                <a:latin typeface="Cambria" panose="02040503050406030204" pitchFamily="18" charset="0"/>
                <a:ea typeface="Cambria" panose="02040503050406030204" pitchFamily="18" charset="0"/>
                <a:cs typeface="Times New Roman" panose="02020603050405020304" pitchFamily="18" charset="0"/>
              </a:rPr>
              <a:t>Department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57" y="1"/>
            <a:ext cx="4402205" cy="8718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86203" y="166858"/>
            <a:ext cx="300579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JAVA PROGRAMMING</a:t>
            </a:r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9857457505_0_0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100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7" name="Google Shape;97;g39857457505_0_0"/>
          <p:cNvGraphicFramePr/>
          <p:nvPr/>
        </p:nvGraphicFramePr>
        <p:xfrm>
          <a:off x="4879584" y="742909"/>
          <a:ext cx="2337775" cy="476225"/>
        </p:xfrm>
        <a:graphic>
          <a:graphicData uri="http://schemas.openxmlformats.org/drawingml/2006/table">
            <a:tbl>
              <a:tblPr>
                <a:noFill/>
                <a:tableStyleId>{B584C3D5-BA56-4CB6-A2EC-A6B4E8D0C348}</a:tableStyleId>
              </a:tblPr>
              <a:tblGrid>
                <a:gridCol w="2337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76225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rgbClr val="000000"/>
                          </a:solidFill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Lesson Plan</a:t>
                      </a:r>
                      <a:endParaRPr sz="1800" b="1" u="none" strike="noStrike" cap="none">
                        <a:latin typeface="Cambria"/>
                        <a:ea typeface="Cambria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98" name="Google Shape;98;g39857457505_0_0"/>
          <p:cNvGraphicFramePr/>
          <p:nvPr>
            <p:extLst>
              <p:ext uri="{D42A27DB-BD31-4B8C-83A1-F6EECF244321}">
                <p14:modId xmlns:p14="http://schemas.microsoft.com/office/powerpoint/2010/main" val="3656505230"/>
              </p:ext>
            </p:extLst>
          </p:nvPr>
        </p:nvGraphicFramePr>
        <p:xfrm>
          <a:off x="2512859" y="1845580"/>
          <a:ext cx="7166300" cy="1005860"/>
        </p:xfrm>
        <a:graphic>
          <a:graphicData uri="http://schemas.openxmlformats.org/drawingml/2006/table">
            <a:tbl>
              <a:tblPr>
                <a:noFill/>
                <a:tableStyleId>{B584C3D5-BA56-4CB6-A2EC-A6B4E8D0C348}</a:tableStyleId>
              </a:tblPr>
              <a:tblGrid>
                <a:gridCol w="3583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83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3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Subject/Course</a:t>
                      </a:r>
                      <a:endParaRPr sz="1800" b="1" u="none" strike="noStrike" cap="none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70C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Java</a:t>
                      </a:r>
                      <a:r>
                        <a:rPr lang="en-US" sz="1800" b="1" u="none" strike="noStrike" cap="none" baseline="0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 Programming/ </a:t>
                      </a:r>
                      <a:r>
                        <a:rPr lang="en-US" sz="1800" b="1" u="none" strike="noStrike" cap="none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Exception</a:t>
                      </a:r>
                      <a:r>
                        <a:rPr lang="en-US" sz="1800" b="1" u="none" strike="noStrike" cap="none" baseline="0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 Handling in Java</a:t>
                      </a:r>
                      <a:endParaRPr sz="1800" b="1" u="none" strike="noStrike" cap="none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39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libri"/>
                        <a:buNone/>
                      </a:pPr>
                      <a:r>
                        <a:rPr lang="en-US" sz="1800" b="1" u="none" strike="noStrike" cap="none" dirty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Lesson Title</a:t>
                      </a:r>
                      <a:endParaRPr sz="1800" b="1" u="none" strike="noStrike" cap="none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lnSpc>
                          <a:spcPct val="9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2400"/>
                        <a:buFont typeface="Arial"/>
                        <a:buNone/>
                      </a:pPr>
                      <a:r>
                        <a:rPr lang="en-IN" sz="1800" b="1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Exception</a:t>
                      </a:r>
                      <a:r>
                        <a:rPr lang="en-IN" sz="1800" b="1" baseline="0" dirty="0" smtClean="0">
                          <a:solidFill>
                            <a:schemeClr val="tx1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 Handling</a:t>
                      </a:r>
                      <a:endParaRPr sz="1800" b="1" dirty="0">
                        <a:solidFill>
                          <a:schemeClr val="tx1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9" name="Google Shape;99;g39857457505_0_0"/>
          <p:cNvGraphicFramePr/>
          <p:nvPr>
            <p:extLst>
              <p:ext uri="{D42A27DB-BD31-4B8C-83A1-F6EECF244321}">
                <p14:modId xmlns:p14="http://schemas.microsoft.com/office/powerpoint/2010/main" val="953695895"/>
              </p:ext>
            </p:extLst>
          </p:nvPr>
        </p:nvGraphicFramePr>
        <p:xfrm>
          <a:off x="1524006" y="3477842"/>
          <a:ext cx="10063950" cy="2140825"/>
        </p:xfrm>
        <a:graphic>
          <a:graphicData uri="http://schemas.openxmlformats.org/drawingml/2006/table">
            <a:tbl>
              <a:tblPr>
                <a:noFill/>
                <a:tableStyleId>{B584C3D5-BA56-4CB6-A2EC-A6B4E8D0C348}</a:tableStyleId>
              </a:tblPr>
              <a:tblGrid>
                <a:gridCol w="10063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6155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US" sz="1800" b="1" u="none" strike="noStrike" cap="none">
                          <a:solidFill>
                            <a:srgbClr val="C00000"/>
                          </a:solidFill>
                          <a:latin typeface="Cambria" panose="02040503050406030204" pitchFamily="18" charset="0"/>
                          <a:ea typeface="Cambria" panose="02040503050406030204" pitchFamily="18" charset="0"/>
                          <a:cs typeface="Cambria"/>
                          <a:sym typeface="Cambria"/>
                        </a:rPr>
                        <a:t>Lesson Objectives</a:t>
                      </a:r>
                      <a:endParaRPr sz="1800" b="1" u="none" strike="noStrike" cap="none">
                        <a:solidFill>
                          <a:srgbClr val="C00000"/>
                        </a:solidFill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50">
                <a:tc>
                  <a:txBody>
                    <a:bodyPr/>
                    <a:lstStyle/>
                    <a:p>
                      <a:pPr rtl="0" fontAlgn="base"/>
                      <a:r>
                        <a:rPr lang="en-IN" sz="18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Errors and Exceptions</a:t>
                      </a:r>
                      <a:endParaRPr lang="en-IN" sz="1800" b="0" i="0" u="none" strike="noStrike" cap="none" dirty="0">
                        <a:solidFill>
                          <a:srgbClr val="000000"/>
                        </a:solidFill>
                        <a:effectLst/>
                        <a:latin typeface="Cambria" panose="02040503050406030204" pitchFamily="18" charset="0"/>
                        <a:ea typeface="Cambria" panose="02040503050406030204" pitchFamily="18" charset="0"/>
                        <a:cs typeface="Arial"/>
                        <a:sym typeface="Arial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IN" sz="18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try-catch Block  , finally Block</a:t>
                      </a:r>
                      <a:endParaRPr sz="1800" b="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34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r>
                        <a:rPr lang="en-IN" sz="18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throw and throws Keywords</a:t>
                      </a:r>
                      <a:endParaRPr sz="1800" b="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3425">
                <a:tc>
                  <a:txBody>
                    <a:bodyPr/>
                    <a:lstStyle/>
                    <a:p>
                      <a:pPr rtl="0" fontAlgn="base"/>
                      <a:r>
                        <a:rPr lang="en-US" sz="18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Custom Exceptions</a:t>
                      </a:r>
                      <a:r>
                        <a:rPr lang="en-US" sz="1800" b="0" i="0" u="none" strike="noStrike" cap="none" baseline="0" dirty="0" smtClea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  ,  </a:t>
                      </a:r>
                      <a:r>
                        <a:rPr lang="en-US" sz="1800" b="0" i="0" u="none" strike="noStrike" cap="none" dirty="0" smtClean="0">
                          <a:solidFill>
                            <a:srgbClr val="000000"/>
                          </a:solidFill>
                          <a:effectLst/>
                          <a:latin typeface="Cambria" panose="02040503050406030204" pitchFamily="18" charset="0"/>
                          <a:ea typeface="Cambria" panose="02040503050406030204" pitchFamily="18" charset="0"/>
                          <a:cs typeface="Arial"/>
                          <a:sym typeface="Arial"/>
                        </a:rPr>
                        <a:t>Exception Handling Best Practices</a:t>
                      </a:r>
                    </a:p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Cambria"/>
                        <a:buNone/>
                      </a:pPr>
                      <a:endParaRPr sz="1800" b="0" dirty="0">
                        <a:latin typeface="Cambria" panose="02040503050406030204" pitchFamily="18" charset="0"/>
                        <a:ea typeface="Cambria" panose="02040503050406030204" pitchFamily="18" charset="0"/>
                        <a:cs typeface="Cambria"/>
                        <a:sym typeface="Cambria"/>
                      </a:endParaRPr>
                    </a:p>
                  </a:txBody>
                  <a:tcPr marL="91450" marR="91450" marT="45725" marB="45725" anchor="ctr">
                    <a:lnL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"/>
          <p:cNvSpPr txBox="1">
            <a:spLocks noGrp="1"/>
          </p:cNvSpPr>
          <p:nvPr>
            <p:ph type="title"/>
          </p:nvPr>
        </p:nvSpPr>
        <p:spPr>
          <a:xfrm>
            <a:off x="838200" y="815291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mbria"/>
              <a:buNone/>
            </a:pPr>
            <a:r>
              <a:rPr lang="en-US" sz="2400" b="1" dirty="0">
                <a:latin typeface="Cambria"/>
                <a:ea typeface="Cambria"/>
                <a:cs typeface="Cambria"/>
                <a:sym typeface="Cambria"/>
              </a:rPr>
              <a:t>Outline</a:t>
            </a:r>
            <a:endParaRPr sz="2400" b="1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05" name="Google Shape;105;p2"/>
          <p:cNvSpPr txBox="1">
            <a:spLocks noGrp="1"/>
          </p:cNvSpPr>
          <p:nvPr>
            <p:ph type="body" idx="1"/>
          </p:nvPr>
        </p:nvSpPr>
        <p:spPr>
          <a:xfrm>
            <a:off x="838200" y="1472608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</a:pPr>
            <a:endParaRPr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Errors and Exceptions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Checked and Unchecked Exceptions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try-catch Block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Multiple catch Blocks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finally Block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throw and throws Keywords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Custom Exceptions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Exception Handling Best Practices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573"/>
            <a:ext cx="12192000" cy="7057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44880" y="1259409"/>
            <a:ext cx="9890760" cy="37446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spcAft>
                <a:spcPts val="400"/>
              </a:spcAft>
            </a:pPr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Introduction to Exception Handling</a:t>
            </a:r>
          </a:p>
          <a:p>
            <a:pPr marL="342900" indent="-342900" fontAlgn="base">
              <a:spcBef>
                <a:spcPts val="1200"/>
              </a:spcBef>
              <a:buFont typeface="Wingdings" panose="05000000000000000000" pitchFamily="2" charset="2"/>
              <a:buChar char="§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An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is an unexpected event that occurs during program execution.</a:t>
            </a:r>
          </a:p>
          <a:p>
            <a:pPr marL="342900" indent="-342900" fontAlgn="base">
              <a:buFont typeface="Wingdings" panose="05000000000000000000" pitchFamily="2" charset="2"/>
              <a:buChar char="§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interrupts the normal flow of a program.</a:t>
            </a:r>
          </a:p>
          <a:p>
            <a:pPr marL="342900" indent="-342900" fontAlgn="base">
              <a:buFont typeface="Wingdings" panose="05000000000000000000" pitchFamily="2" charset="2"/>
              <a:buChar char="§"/>
            </a:pP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Exception handling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allows us to detect and handle these problems.</a:t>
            </a:r>
          </a:p>
          <a:p>
            <a:pPr marL="342900" indent="-342900" fontAlgn="base">
              <a:buFont typeface="Wingdings" panose="05000000000000000000" pitchFamily="2" charset="2"/>
              <a:buChar char="§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helps make programs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reliable, robust, and user-friendly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fontAlgn="base">
              <a:buFont typeface="Wingdings" panose="05000000000000000000" pitchFamily="2" charset="2"/>
              <a:buChar char="§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Java provides several keywords for handling exceptions:</a:t>
            </a: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803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try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803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catch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803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finally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 fontAlgn="base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803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throw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742950" lvl="1" indent="-285750" fontAlgn="base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188038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throws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898995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298543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Advantages of Exception </a:t>
            </a:r>
            <a:r>
              <a:rPr lang="en-IN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Handling</a:t>
            </a:r>
          </a:p>
          <a:p>
            <a:endParaRPr lang="en-IN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Prevents unexpected program termination.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Separates error-handling code from normal code.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Improves program reliability.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Makes debugging easier.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Provides meaningful error messages.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Helps maintain clean and readable code.</a:t>
            </a:r>
          </a:p>
          <a:p>
            <a:pPr marL="342900" indent="-342900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Allows programs to recover from certain runtime problems.</a:t>
            </a:r>
          </a:p>
        </p:txBody>
      </p:sp>
    </p:spTree>
    <p:extLst>
      <p:ext uri="{BB962C8B-B14F-4D97-AF65-F5344CB8AC3E}">
        <p14:creationId xmlns:p14="http://schemas.microsoft.com/office/powerpoint/2010/main" val="24470997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3" name="Rectangle 2"/>
          <p:cNvSpPr>
            <a:spLocks noChangeArrowheads="1"/>
          </p:cNvSpPr>
          <p:nvPr/>
        </p:nvSpPr>
        <p:spPr bwMode="auto">
          <a:xfrm>
            <a:off x="422620" y="1109246"/>
            <a:ext cx="11660564" cy="44935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Disadvantages of Exception Handling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4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Makes code more complex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Using try, catch, finally, etc. can make programs longer and harder to read.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Performance overhead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Handling exceptions can be slower than normal program execution, especially when exceptions occur </a:t>
            </a:r>
          </a:p>
          <a:p>
            <a:pPr marL="0" marR="0" lvl="0" indent="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frequently.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Difficult debugging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Poorly handled exceptions can hide the actual cause of a problem.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Too many exceptions can clutter code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Using many try-catch blocks can make the program difficult to maintain. </a:t>
            </a:r>
          </a:p>
          <a:p>
            <a:pPr marL="342900" marR="0" lvl="0" indent="-342900" algn="just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Improper handling may cause problems</a:t>
            </a: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kumimoji="0" lang="en-US" altLang="en-US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mbria" panose="02040503050406030204" pitchFamily="18" charset="0"/>
                <a:ea typeface="Cambria" panose="02040503050406030204" pitchFamily="18" charset="0"/>
              </a:rPr>
              <a:t>If an exception is caught but ignored, errors may go unnoticed.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0051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9890760" cy="566308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Errors and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Exceptions</a:t>
            </a:r>
          </a:p>
          <a:p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Errors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Serious problems that generally cannot be handled by the application.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Usually caused by the JVM or system environment.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Examples:</a:t>
            </a: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OutOfMemoryError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StackOverflowError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1" algn="just" fontAlgn="base"/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Exceptions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Problems that can often be detected and handled by the program.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Examples:</a:t>
            </a: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ArithmeticException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NullPointerException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IOException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dirty="0"/>
              <a:t/>
            </a:r>
            <a:br>
              <a:rPr lang="en-US" dirty="0"/>
            </a:b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31934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9890760" cy="6155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mtClean="0"/>
              <a:t/>
            </a:r>
            <a:br>
              <a:rPr lang="en-US" smtClean="0"/>
            </a:b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9478" y="1300162"/>
            <a:ext cx="7624688" cy="4931826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778475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63094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Checked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Exceptions</a:t>
            </a:r>
          </a:p>
          <a:p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Checked exceptions are checked by the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compiler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at compile time.</a:t>
            </a:r>
          </a:p>
          <a:p>
            <a:pPr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programmer must either:</a:t>
            </a:r>
          </a:p>
          <a:p>
            <a:pPr lvl="1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Handle them using try-catch, or</a:t>
            </a:r>
          </a:p>
          <a:p>
            <a:pPr lvl="1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Declare them using throws.</a:t>
            </a:r>
          </a:p>
          <a:p>
            <a:pPr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Common examples:</a:t>
            </a:r>
          </a:p>
          <a:p>
            <a:pPr lvl="1" fontAlgn="base"/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IOException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1" fontAlgn="base"/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SQLException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1" fontAlgn="base"/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FileNotFoundException</a:t>
            </a: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lvl="1" fontAlgn="base"/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Example: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import java.io.*;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class Demo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public static void main(String[]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) throws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IOException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FileReader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f = new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FileReader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("data.txt");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sz="2000" b="1" dirty="0"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334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486287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latin typeface="Cambria" panose="02040503050406030204" pitchFamily="18" charset="0"/>
                <a:ea typeface="Cambria" panose="02040503050406030204" pitchFamily="18" charset="0"/>
              </a:rPr>
              <a:t>Unchecked </a:t>
            </a:r>
            <a:r>
              <a:rPr lang="en-US" sz="2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Exceptions</a:t>
            </a:r>
          </a:p>
          <a:p>
            <a:pPr algn="just"/>
            <a:endParaRPr lang="en-US" sz="28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Unchecked exceptions occur mainly at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runtime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They are subclasses of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RuntimeException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compiler does not require them to be explicitly handled.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Common examples:</a:t>
            </a: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ArithmeticException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NullPointerException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ArrayIndexOutOfBoundsException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lvl="1" indent="-342900" algn="just" fontAlgn="base">
              <a:buFont typeface="Wingdings" panose="05000000000000000000" pitchFamily="2" charset="2"/>
              <a:buChar char="q"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NumberFormatException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Example: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a = 10 / 0;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This causes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ArithmeticException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dirty="0"/>
              <a:t/>
            </a:r>
            <a:br>
              <a:rPr lang="en-US" dirty="0"/>
            </a:br>
            <a:endParaRPr lang="en-US" sz="2000" b="1" dirty="0"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0138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try-catch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Block</a:t>
            </a:r>
          </a:p>
          <a:p>
            <a:pPr algn="just"/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try block contains code that may cause an exception.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catch block handles the exception.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This prevents abnormal termination of the program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try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result = 10 / 0;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catch (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ArithmeticException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e)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("Cannot divide by zero");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Flow:</a:t>
            </a:r>
            <a:b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try 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------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  <a:sym typeface="Wingdings" panose="05000000000000000000" pitchFamily="2" charset="2"/>
              </a:rPr>
              <a:t>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exception occurs  --------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  <a:sym typeface="Wingdings" panose="05000000000000000000" pitchFamily="2" charset="2"/>
              </a:rPr>
              <a:t> 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catch 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handles exception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b="1" dirty="0"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057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6370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Multiple catch </a:t>
            </a:r>
            <a:r>
              <a:rPr lang="en-IN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Blocks</a:t>
            </a:r>
          </a:p>
          <a:p>
            <a:endParaRPr lang="en-IN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A single try block can have multiple catch blocks.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Each catch block handles a different type of exception.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More specific exceptions should generally be caught before broader ones.</a:t>
            </a: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try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[] numbers = {1, 2, 3};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(numbers[5]);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catch (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ArithmeticException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e)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("Arithmetic error");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catch (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ArrayIndexOutOfBoundsException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e)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("Array index error");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catch (Exception e)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("Some other error");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b="1" dirty="0"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812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60631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finally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Block</a:t>
            </a:r>
          </a:p>
          <a:p>
            <a:pPr algn="just"/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finally block is used for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cleanup operations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normally executes whether an exception occurs or not.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Commonly used to:</a:t>
            </a:r>
          </a:p>
          <a:p>
            <a:pPr marL="342900" lvl="1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Close files</a:t>
            </a:r>
          </a:p>
          <a:p>
            <a:pPr marL="342900" lvl="1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Release resources</a:t>
            </a:r>
          </a:p>
          <a:p>
            <a:pPr marL="342900" lvl="1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Close database connections</a:t>
            </a: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try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("Try block");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catch (Exception e)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("Exception occurred");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finally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("Cleanup code");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b="1" dirty="0"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64286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42165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throw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Keyword</a:t>
            </a:r>
          </a:p>
          <a:p>
            <a:pPr algn="just"/>
            <a:endParaRPr lang="en-US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throw keyword is used to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explicitly throw an 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is useful when a programmer wants to create an exception based on a specific condition.</a:t>
            </a:r>
          </a:p>
          <a:p>
            <a:pPr algn="just"/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age = 15;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if (age &lt; 18)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throw new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IllegalArgumentException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("Age must be 18 or above");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Key point:</a:t>
            </a:r>
            <a:b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throw is used to actually throw a specific exception object.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US" sz="2400" dirty="0"/>
              <a:t/>
            </a:r>
            <a:br>
              <a:rPr lang="en-US" sz="2400" dirty="0"/>
            </a:br>
            <a:endParaRPr lang="en-US" sz="2000" b="1" dirty="0">
              <a:effectLst/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96606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throws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Keyword</a:t>
            </a:r>
          </a:p>
          <a:p>
            <a:pPr algn="just"/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The throws keyword is used in a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method declaration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indicates that a method may pass an exception to its caller.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is especially useful for checked exceptions.</a:t>
            </a: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void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readFile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() throws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IOException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FileReader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file = new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FileReader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("data.txt");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Difference: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throw → explicitly throws an exception.</a:t>
            </a:r>
          </a:p>
          <a:p>
            <a:pPr algn="just" fontAlgn="base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throws → declares possible exceptions.</a:t>
            </a:r>
          </a:p>
        </p:txBody>
      </p:sp>
    </p:spTree>
    <p:extLst>
      <p:ext uri="{BB962C8B-B14F-4D97-AF65-F5344CB8AC3E}">
        <p14:creationId xmlns:p14="http://schemas.microsoft.com/office/powerpoint/2010/main" val="38841922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58169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US" sz="2400" b="1" dirty="0">
                <a:latin typeface="Cambria" panose="02040503050406030204" pitchFamily="18" charset="0"/>
                <a:ea typeface="Cambria" panose="02040503050406030204" pitchFamily="18" charset="0"/>
              </a:rPr>
              <a:t> Custom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Exceptions</a:t>
            </a:r>
          </a:p>
          <a:p>
            <a:pPr algn="just"/>
            <a:endParaRPr lang="en-US" sz="24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A </a:t>
            </a:r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custom 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is a user-defined exception.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It is created by extending Exception or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RuntimeException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marL="342900" indent="-342900" algn="just" fontAlgn="base">
              <a:buFont typeface="Arial" panose="020B0604020202020204" pitchFamily="34" charset="0"/>
              <a:buChar char="•"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Useful for application-specific errors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</a:t>
            </a:r>
          </a:p>
          <a:p>
            <a:pPr algn="just" fontAlgn="base"/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class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InvalidAgeException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 extends Exception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InvalidAgeException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(String message)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super(message);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 algn="just"/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b="1" dirty="0">
                <a:latin typeface="Cambria" panose="02040503050406030204" pitchFamily="18" charset="0"/>
                <a:ea typeface="Cambria" panose="02040503050406030204" pitchFamily="18" charset="0"/>
              </a:rPr>
              <a:t>Using the custom exception: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if (age &lt; 18) {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throw new </a:t>
            </a: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InvalidAgeException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("Not eligible");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4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0216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3635"/>
            <a:ext cx="11544300" cy="7176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22020" y="887135"/>
            <a:ext cx="10645140" cy="65556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z="2400" b="1" dirty="0">
                <a:latin typeface="Cambria" panose="02040503050406030204" pitchFamily="18" charset="0"/>
                <a:ea typeface="Cambria" panose="02040503050406030204" pitchFamily="18" charset="0"/>
              </a:rPr>
              <a:t>Exception Handling </a:t>
            </a:r>
            <a:r>
              <a:rPr lang="en-IN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Example </a:t>
            </a:r>
          </a:p>
          <a:p>
            <a:endParaRPr lang="en-IN" sz="2000" b="1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public class Example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public static void main(String[] 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)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try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a = 10;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b = 0;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result = a / b;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(result);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catch (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ArithmeticException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 e)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("Error: Division by zero");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finally {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IN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("Program completed");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    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    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IN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IN" sz="20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7322820" y="5368528"/>
            <a:ext cx="6096000" cy="73866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b="1" dirty="0">
                <a:latin typeface="Cambria" panose="02040503050406030204" pitchFamily="18" charset="0"/>
                <a:ea typeface="Cambria" panose="02040503050406030204" pitchFamily="18" charset="0"/>
              </a:rPr>
              <a:t>Output:</a:t>
            </a:r>
            <a:endParaRPr lang="en-IN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Error: Division by zero</a:t>
            </a:r>
          </a:p>
          <a:p>
            <a:r>
              <a:rPr lang="en-IN" dirty="0">
                <a:latin typeface="Cambria" panose="02040503050406030204" pitchFamily="18" charset="0"/>
                <a:ea typeface="Cambria" panose="02040503050406030204" pitchFamily="18" charset="0"/>
              </a:rPr>
              <a:t>Program completed</a:t>
            </a:r>
          </a:p>
        </p:txBody>
      </p:sp>
    </p:spTree>
    <p:extLst>
      <p:ext uri="{BB962C8B-B14F-4D97-AF65-F5344CB8AC3E}">
        <p14:creationId xmlns:p14="http://schemas.microsoft.com/office/powerpoint/2010/main" val="19186972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511</TotalTime>
  <Words>1137</Words>
  <Application>Microsoft Office PowerPoint</Application>
  <PresentationFormat>Widescreen</PresentationFormat>
  <Paragraphs>213</Paragraphs>
  <Slides>17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Calibri</vt:lpstr>
      <vt:lpstr>Arial</vt:lpstr>
      <vt:lpstr>Wingdings</vt:lpstr>
      <vt:lpstr>Times New Roman</vt:lpstr>
      <vt:lpstr>Cambria</vt:lpstr>
      <vt:lpstr>Office Theme</vt:lpstr>
      <vt:lpstr>PowerPoint Presentation</vt:lpstr>
      <vt:lpstr>PowerPoint Presentation</vt:lpstr>
      <vt:lpstr>Outline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UNIT:- 02</dc:title>
  <dc:creator>admin</dc:creator>
  <cp:lastModifiedBy>MyLappy</cp:lastModifiedBy>
  <cp:revision>93</cp:revision>
  <dcterms:created xsi:type="dcterms:W3CDTF">2024-12-30T07:42:19Z</dcterms:created>
  <dcterms:modified xsi:type="dcterms:W3CDTF">2026-09-15T21:28:28Z</dcterms:modified>
</cp:coreProperties>
</file>